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Đây là tổng hợp hai ngày thực nghiệm cho bài toán dự đoán đáp ứng liệu pháp miễn dịch NSCLC từ dữ liệu đa nguồn. Câu hỏi lớn: các phương pháp phức tạp — attention học được, foundation model, embedding từ ảnh gốc — có thực sự hơn một baseline đơn giản không? Tôi nói luôn kết luận: sau sáu nhóm thí nghiệm, không phương pháp nào vượt được baseline uniform_avg. Trần hiệu năng nằm ở bản thân dữ liệu, không phải ở mô hình. Điểm dương duy nhất, và cũng là đóng góp mạnh nhất, là phát hiện về generalization ở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kết hợp năm nguồn — radiomics từ CT, pathology từ nhuộm PD-L1, genomic, điểm PD-L1, và xét nghiệm lâm sàng. Mô hình gốc trong bài báo là DyAM, dynamic attention fusion. Tôi kiểm chứng ba câu hỏi: attention có hơn trung bình đơn giản; foundation embedding có phá được trần; và TabPFN có hơn hồi quy tuyến tính. Về phương pháp, mọi con số đều là trung bình năm seed mười-fold có hoán vị phân hoạch, kèm kiểm định bootstrap trên bệnh nhân — để chống việc chỉ chạy một lần rồi lấy số đẹp. Và tôi luôn kiểm trên cohort ngoài, vì AUC nội bộ đã kịch trần khoảng 0.78.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baseline uniform_avg. Nó có hai phần. Phần HỌC: mỗi nguồn có một head hồi quy nhỏ — rᵢ bằng tanh của Wᵢ nhân xᵢ — các trọng số W này được huấn luyện bình thường bằng gradient descent. Phần KHÔNG học: trọng số kết hợp aᵢ bằng mask chia tổng mask, tức chia đều cho các nguồn bệnh nhân có, nguồn nào vắng thì tự loại. Về bản chất đây chính là DyAM nhưng cơ chế attention bị vô hiệu hoá, cố định về chia đều. Nó học cách đọc từng nguồn rồi cộng đều, thay vì học tin nguồn nào hơn.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so sánh, đây là hai biến thể attention HỌC được của DyAM. Panel A là cooperative attention: một ma trận N nhân N học tương tác giữa các nguồn. Panel B là competitive, gọi là OvO — mỗi nguồn cạnh tranh với trung bình các nguồn còn lại. Cả hai đều học trọng số aᵢ một cách có tham số. Câu hỏi rất tự nhiên: tầng attention học được này có đáng giá không? Slide sau trả lời.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trả lời là không. Tôi chạy đủ mọi tổ hợp nguồn, hơn bốn mươi cấu hình. uniform_avg luôn ngang hoặc hơn DyAM và OvO. Quan trọng hơn: khoảng cách nghiêng về uniform lại TĂNG khi thêm nguồn — ngược hẳn kỳ vọng 'nhiều nguồn thì attention thắng'. DyAM chỉ thắng có ý nghĩa ở hai trên hai mươi sáu tổ hợp, đều ở trường hợp ít nguồn nhất. Kết luận: attention học được không đóng góp gì, nó chỉ tái lập phép chia đều.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cái nhìn tổng quan ba mô hình fusion trên bốn tổ hợp benchmark. Nhìn bảng: uniform_avg và OvO gần như trùng nhau, bám sát nhau trong khoảng năm phần nghìn, và cả hai đều ngang hoặc hơn DyAM. Chênh lệch giữa ba mô hình chỉ khoảng một phần trăm, phần lớn không đạt ý nghĩa thống kê — tức chúng tương đương trong nhiễu. Con số 0.79 đến 0.80 mà bài báo báo cáo là kết quả single-run của DyAM và OvO trên một phân hoạch thuận lợi. Thông điệp: không mô hình attention nào vượt được baseline đơn giản một cách bền vững, nên ta chọn baseline vì nó đơn giản và ổn định hơn.</a:t>
            </a:r>
          </a:p>
          <a:p/>
          <a:p>
            <a:r>
              <a:t>[GIẢI THÍCH single-run vs 5-seed — dùng khi hội đồng hỏi 'sao số thấp hơn bài báo gốc']: Đánh giá bằng 10-fold cross-validation cần chia ngẫu nhiên bệnh nhân thành các nhóm; cách chia phụ thuộc một 'seed' ngẫu nhiên. SINGLE-RUN là chạy với MỘT cách chia; 5-SEED là trung bình của NĂM cách chia khác nhau. Vì cỡ mẫu nhỏ (~250 bệnh nhân), AUC dao động mạnh giữa các cách chia — riêng BM1 dải là 0.726 đến 0.781, tức chỉ đổi cách chia thôi đã lệch tới 0.055. Con số 0.79 của bài báo rơi vào một lần chia THUẬN LỢI, thậm chí cao hơn cả đỉnh của dải 5-seed; còn 0.76 là TRUNG BÌNH, đại diện và ổn định hơn. Bằng chứng cấu hình giống hệt: khi tái lập ĐÚNG kiểu single-run, số của em khớp bài báo tới bốn chữ số ở BM4 (0.6932 so với 0.6931). Vì vậy em báo cáo 5-seed để trung thực về phương sai và chống cherry-pick. Ví von: single-run như chấm một đề thi (có thể dễ/khó bất chợt); 5-seed như trung bình năm đề — công bằng hơn.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kiểm chứng phụ. Bên trái: stacked fusion — cho một meta-model học trọng số nguồn từ dự đoán out-of-fold, kỳ vọng nó tự hạ radiomics. Kết quả ngược lại: nó đề cao radiomics và bỏ pathology, vì học từ tín hiệu nội bộ. Bên phải, câu hỏi quan trọng: vì sao bài báo báo 0.79 còn tôi 0.76? Cấu hình giống hệt — khác biệt thuần ở chỗ bài báo báo MỘT lần chạy, tôi trung bình NĂM phân hoạch. Tái lập đúng kiểu một-lần, số của tôi khớp bài báo tới bốn chữ số. Vậy 0.79 chỉ là một phân hoạch may mắn, không phải cấu hình tốt hơn.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xem kết quả, đây là cách tôi biến ẢNH GỐC thành vector đặc trưng — pipeline cho cả hai loại ảnh. Với PATHOLOGY: từ slide WSI, tôi cắt thành các tile 256 pixel ở độ phóng 20x, chỉ trong vùng khối u do HALO khoanh; mỗi tile đưa qua Phikon — một Vision Transformer nền tảng — ra vector 768 chiều; rồi mean-pool trung bình mọi tile thành một vector cho mỗi slide. Với RADIOLOGY: từ file CT và mask tổn thương, tôi chọn đúng series theo kích thước, cắt cửa sổ mô mềm, crop quanh lesion, đưa qua ba encoder — BiomedCLIP, MedicalNet 3D và fmcib — rồi cũng mean-pool thành một vector cho mỗi ca. Hai điểm cốt lõi: encoder được ĐÓNG BĂNG, chỉ chạy inference chứ không fine-tune; và cách gộp là mean-pool — đơn giản nhất và cũng là thô nhất, chuẩn mực hơn là ABMIL học trọng số tile. Chính hai lựa chọn này vừa định hình vừa giới hạn kết quả ở slide sau.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nỗ lực lớn nhất — thay đặc trưng thủ công bằng embedding foundation model chạy trực tiếp trên ảnh gốc, cả WSI pathology lẫn CT. Tôi thử bốn model. Với pathology, Phikon giàu tín hiệu hơn ở nội bộ nhưng không vượt được GLCM thủ công ngoài mẫu. Với radiology, ba model — BiomedCLIP, MedicalNet, và cả fmcib chuyên biệt cho ung thư CT mà tôi phải chạy trên Colab — đều gần như ngẫu nhiên ở nội bộ, quanh 0.51. Kể cả fmcib, model đúng nhất, cũng không mang tín hiệu. Ba model độc lập cùng hội tụ về ngẫu nhiên, nên đây không phải lỗi chọn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tiếp: embedding đơn lẻ yếu, nhưng khi kết hợp với nguồn khác có bổ sung tín hiệu không? Câu trả lời còn tệ hơn — nó kéo tụt fusion. Càng thay nhiều imaging bằng embedding, AUC càng giảm: từ 0.775 của bản thủ công xuống 0.653 khi embed cả hai. Thứ tự mức hại khớp chính xác với độ nhiễu của từng embedding. Kể cả chỉ thêm fmcib vào tổ hợp tốt nhất cũng giảm ba phần trăm. Giả thuyết 'bù trừ trong fusion' bị bác bỏ dứt khoát.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Thí nghiệm cuối: TabPFN, một tabular foundation model chuyên dữ liệu nhỏ — đúng ràng buộc của chúng ta. Nhưng nó cũng không vượt hồi quy tuyến tính: thắng không-trên-năm ở per-modality, và một-trên-bốn ở fusion, chỉ ở BM4 là tổ hợp ít nguồn và sạch nhất. Kết quả khớp đúng literature 2025: các model tabular hiện đại thường chỉ ngang ML truyền thống. Nên tôi giữ TabPFN làm comparator hiện đại trong bài, không phải một cải tiến.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phát hiện xuyên suốt và là điểm mạnh nhất cho paper. Qua mọi thí nghiệm, một tín hiệu bền vững: pathology transfer được ra ngoài mẫu, đạt 0.74 đến 0.77; còn radiomics thì không, thường dưới 0.5 và rất bất ổn — nghĩa là nó học đặc tính máy chụp, không phải sinh học khối u. 'Modality nào generalize' đang là chủ đề nóng trong literature multimodal 2025. Ghép với đóng góp NLP-clinical đã có, ta có câu chuyện mạch lạc: nguồn nào đáng tin, và biểu diễn dữ liệu lâm sàng bằng ngôn ngữ.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kết: sau fusion attention, stacked, bốn foundation embedding và TabPFN, mọi con đường hội tụ về một thông điệp — không gì vượt được baseline đơn giản trên đặc trưng thủ công. Trần nằm ở dữ liệu, không ở mô hình hay feature. Ba đóng góp cho paper: NLP-clinical embedding đã có; phát hiện generalization; và một loạt ablation trung thực cho thấy model đơn giản cộng hiểu dữ liệu thắng việc chạy theo con số. Việc còn lại là chốt thực nghiệm và viết, với generalization và baseline đơn giản làm câu chuyện trung tâm. Xin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50">
                <a:solidFill>
                  <a:srgbClr val="1F6F83"/>
                </a:solidFill>
                <a:latin typeface="Segoe UI"/>
              </a:rPr>
              <a:t>BÁO CÁO NỘI BỘ · 21–22 / 07 / 2026</a:t>
            </a:r>
          </a:p>
        </p:txBody>
      </p:sp>
      <p:sp>
        <p:nvSpPr>
          <p:cNvPr id="5" name="TextBox 4"/>
          <p:cNvSpPr txBox="1"/>
          <p:nvPr/>
        </p:nvSpPr>
        <p:spPr>
          <a:xfrm>
            <a:off x="822960" y="1828800"/>
            <a:ext cx="10607040" cy="1828800"/>
          </a:xfrm>
          <a:prstGeom prst="rect">
            <a:avLst/>
          </a:prstGeom>
          <a:noFill/>
        </p:spPr>
        <p:txBody>
          <a:bodyPr wrap="square" anchor="t" lIns="0" rIns="0" tIns="0" bIns="0">
            <a:spAutoFit/>
          </a:bodyPr>
          <a:lstStyle/>
          <a:p>
            <a:pPr>
              <a:lnSpc>
                <a:spcPct val="105000"/>
              </a:lnSpc>
              <a:spcBef>
                <a:spcPts val="0"/>
              </a:spcBef>
              <a:spcAft>
                <a:spcPts val="400"/>
              </a:spcAft>
            </a:pPr>
            <a:r>
              <a:rPr sz="3400" b="1" i="0">
                <a:solidFill>
                  <a:srgbClr val="16212B"/>
                </a:solidFill>
                <a:latin typeface="Segoe UI"/>
              </a:rPr>
              <a:t>Không mô hình hay đặc trưng phức tạp nào vượt được baseline đơn giản</a:t>
            </a:r>
          </a:p>
        </p:txBody>
      </p:sp>
      <p:sp>
        <p:nvSpPr>
          <p:cNvPr id="6" name="TextBox 5"/>
          <p:cNvSpPr txBox="1"/>
          <p:nvPr/>
        </p:nvSpPr>
        <p:spPr>
          <a:xfrm>
            <a:off x="822960" y="3566160"/>
            <a:ext cx="10241280" cy="1005840"/>
          </a:xfrm>
          <a:prstGeom prst="rect">
            <a:avLst/>
          </a:prstGeom>
          <a:noFill/>
        </p:spPr>
        <p:txBody>
          <a:bodyPr wrap="square" anchor="t" lIns="0" rIns="0" tIns="0" bIns="0">
            <a:spAutoFit/>
          </a:bodyPr>
          <a:lstStyle/>
          <a:p>
            <a:pPr>
              <a:lnSpc>
                <a:spcPct val="130000"/>
              </a:lnSpc>
              <a:spcBef>
                <a:spcPts val="0"/>
              </a:spcBef>
              <a:spcAft>
                <a:spcPts val="400"/>
              </a:spcAft>
            </a:pPr>
            <a:r>
              <a:rPr sz="1500" b="0" i="0">
                <a:solidFill>
                  <a:srgbClr val="586878"/>
                </a:solidFill>
                <a:latin typeface="Segoe UI"/>
              </a:rPr>
              <a:t>Kiểm chứng hệ thống: fusion attention, feature engineering, foundation embedding (ảnh gốc) và tabular foundation model — trên cohort đa nguồn dự đoán đáp ứng miễn dịch NSCLC.</a:t>
            </a:r>
          </a:p>
        </p:txBody>
      </p:sp>
      <p:sp>
        <p:nvSpPr>
          <p:cNvPr id="7" name="Rounded Rectangle 6"/>
          <p:cNvSpPr/>
          <p:nvPr/>
        </p:nvSpPr>
        <p:spPr>
          <a:xfrm>
            <a:off x="822960" y="4800600"/>
            <a:ext cx="2514600" cy="1234440"/>
          </a:xfrm>
          <a:prstGeom prst="roundRect">
            <a:avLst>
              <a:gd name="adj" fmla="val 8000"/>
            </a:avLst>
          </a:prstGeom>
          <a:solidFill>
            <a:srgbClr val="F4F6F8"/>
          </a:solidFill>
          <a:ln w="12700">
            <a:solidFill>
              <a:srgbClr val="E0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4983480"/>
            <a:ext cx="2194560" cy="640080"/>
          </a:xfrm>
          <a:prstGeom prst="rect">
            <a:avLst/>
          </a:prstGeom>
          <a:noFill/>
        </p:spPr>
        <p:txBody>
          <a:bodyPr wrap="square" anchor="t" lIns="0" rIns="0" tIns="0" bIns="0">
            <a:spAutoFit/>
          </a:bodyPr>
          <a:lstStyle/>
          <a:p>
            <a:pPr>
              <a:lnSpc>
                <a:spcPct val="105000"/>
              </a:lnSpc>
              <a:spcBef>
                <a:spcPts val="0"/>
              </a:spcBef>
              <a:spcAft>
                <a:spcPts val="400"/>
              </a:spcAft>
            </a:pPr>
            <a:r>
              <a:rPr sz="3000" b="1" i="0">
                <a:solidFill>
                  <a:srgbClr val="1F6F83"/>
                </a:solidFill>
                <a:latin typeface="Segoe UI"/>
              </a:rPr>
              <a:t>6</a:t>
            </a:r>
          </a:p>
        </p:txBody>
      </p:sp>
      <p:sp>
        <p:nvSpPr>
          <p:cNvPr id="9" name="TextBox 8"/>
          <p:cNvSpPr txBox="1"/>
          <p:nvPr/>
        </p:nvSpPr>
        <p:spPr>
          <a:xfrm>
            <a:off x="1024128" y="5596128"/>
            <a:ext cx="2240280" cy="502920"/>
          </a:xfrm>
          <a:prstGeom prst="rect">
            <a:avLst/>
          </a:prstGeom>
          <a:noFill/>
        </p:spPr>
        <p:txBody>
          <a:bodyPr wrap="square" anchor="t" lIns="0" rIns="0" tIns="0" bIns="0">
            <a:spAutoFit/>
          </a:bodyPr>
          <a:lstStyle/>
          <a:p>
            <a:pPr>
              <a:lnSpc>
                <a:spcPct val="100000"/>
              </a:lnSpc>
              <a:spcBef>
                <a:spcPts val="0"/>
              </a:spcBef>
              <a:spcAft>
                <a:spcPts val="400"/>
              </a:spcAft>
            </a:pPr>
            <a:r>
              <a:rPr sz="1150" b="0" i="0">
                <a:solidFill>
                  <a:srgbClr val="586878"/>
                </a:solidFill>
                <a:latin typeface="Segoe UI"/>
              </a:rPr>
              <a:t>nhóm thí nghiệm</a:t>
            </a:r>
          </a:p>
        </p:txBody>
      </p:sp>
      <p:sp>
        <p:nvSpPr>
          <p:cNvPr id="10" name="Rounded Rectangle 9"/>
          <p:cNvSpPr/>
          <p:nvPr/>
        </p:nvSpPr>
        <p:spPr>
          <a:xfrm>
            <a:off x="3474720" y="4800600"/>
            <a:ext cx="2514600" cy="1234440"/>
          </a:xfrm>
          <a:prstGeom prst="roundRect">
            <a:avLst>
              <a:gd name="adj" fmla="val 8000"/>
            </a:avLst>
          </a:prstGeom>
          <a:solidFill>
            <a:srgbClr val="F4F6F8"/>
          </a:solidFill>
          <a:ln w="12700">
            <a:solidFill>
              <a:srgbClr val="E0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5887" y="4983480"/>
            <a:ext cx="2194560" cy="640080"/>
          </a:xfrm>
          <a:prstGeom prst="rect">
            <a:avLst/>
          </a:prstGeom>
          <a:noFill/>
        </p:spPr>
        <p:txBody>
          <a:bodyPr wrap="square" anchor="t" lIns="0" rIns="0" tIns="0" bIns="0">
            <a:spAutoFit/>
          </a:bodyPr>
          <a:lstStyle/>
          <a:p>
            <a:pPr>
              <a:lnSpc>
                <a:spcPct val="105000"/>
              </a:lnSpc>
              <a:spcBef>
                <a:spcPts val="0"/>
              </a:spcBef>
              <a:spcAft>
                <a:spcPts val="400"/>
              </a:spcAft>
            </a:pPr>
            <a:r>
              <a:rPr sz="3000" b="1" i="0">
                <a:solidFill>
                  <a:srgbClr val="16212B"/>
                </a:solidFill>
                <a:latin typeface="Segoe UI"/>
              </a:rPr>
              <a:t>~0.78</a:t>
            </a:r>
          </a:p>
        </p:txBody>
      </p:sp>
      <p:sp>
        <p:nvSpPr>
          <p:cNvPr id="12" name="TextBox 11"/>
          <p:cNvSpPr txBox="1"/>
          <p:nvPr/>
        </p:nvSpPr>
        <p:spPr>
          <a:xfrm>
            <a:off x="3675887" y="5596128"/>
            <a:ext cx="2240280" cy="502920"/>
          </a:xfrm>
          <a:prstGeom prst="rect">
            <a:avLst/>
          </a:prstGeom>
          <a:noFill/>
        </p:spPr>
        <p:txBody>
          <a:bodyPr wrap="square" anchor="t" lIns="0" rIns="0" tIns="0" bIns="0">
            <a:spAutoFit/>
          </a:bodyPr>
          <a:lstStyle/>
          <a:p>
            <a:pPr>
              <a:lnSpc>
                <a:spcPct val="100000"/>
              </a:lnSpc>
              <a:spcBef>
                <a:spcPts val="0"/>
              </a:spcBef>
              <a:spcAft>
                <a:spcPts val="400"/>
              </a:spcAft>
            </a:pPr>
            <a:r>
              <a:rPr sz="1150" b="0" i="0">
                <a:solidFill>
                  <a:srgbClr val="586878"/>
                </a:solidFill>
                <a:latin typeface="Segoe UI"/>
              </a:rPr>
              <a:t>trần AUC nội bộ</a:t>
            </a:r>
          </a:p>
        </p:txBody>
      </p:sp>
      <p:sp>
        <p:nvSpPr>
          <p:cNvPr id="13" name="Rounded Rectangle 12"/>
          <p:cNvSpPr/>
          <p:nvPr/>
        </p:nvSpPr>
        <p:spPr>
          <a:xfrm>
            <a:off x="6126479" y="4800600"/>
            <a:ext cx="2514600" cy="1234440"/>
          </a:xfrm>
          <a:prstGeom prst="roundRect">
            <a:avLst>
              <a:gd name="adj" fmla="val 8000"/>
            </a:avLst>
          </a:prstGeom>
          <a:solidFill>
            <a:srgbClr val="F4F6F8"/>
          </a:solidFill>
          <a:ln w="12700">
            <a:solidFill>
              <a:srgbClr val="E0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7" y="4983480"/>
            <a:ext cx="2194560" cy="640080"/>
          </a:xfrm>
          <a:prstGeom prst="rect">
            <a:avLst/>
          </a:prstGeom>
          <a:noFill/>
        </p:spPr>
        <p:txBody>
          <a:bodyPr wrap="square" anchor="t" lIns="0" rIns="0" tIns="0" bIns="0">
            <a:spAutoFit/>
          </a:bodyPr>
          <a:lstStyle/>
          <a:p>
            <a:pPr>
              <a:lnSpc>
                <a:spcPct val="105000"/>
              </a:lnSpc>
              <a:spcBef>
                <a:spcPts val="0"/>
              </a:spcBef>
              <a:spcAft>
                <a:spcPts val="400"/>
              </a:spcAft>
            </a:pPr>
            <a:r>
              <a:rPr sz="3000" b="1" i="0">
                <a:solidFill>
                  <a:srgbClr val="2F7D5B"/>
                </a:solidFill>
                <a:latin typeface="Segoe UI"/>
              </a:rPr>
              <a:t>1</a:t>
            </a:r>
          </a:p>
        </p:txBody>
      </p:sp>
      <p:sp>
        <p:nvSpPr>
          <p:cNvPr id="15" name="TextBox 14"/>
          <p:cNvSpPr txBox="1"/>
          <p:nvPr/>
        </p:nvSpPr>
        <p:spPr>
          <a:xfrm>
            <a:off x="6327647" y="5596128"/>
            <a:ext cx="2240280" cy="502920"/>
          </a:xfrm>
          <a:prstGeom prst="rect">
            <a:avLst/>
          </a:prstGeom>
          <a:noFill/>
        </p:spPr>
        <p:txBody>
          <a:bodyPr wrap="square" anchor="t" lIns="0" rIns="0" tIns="0" bIns="0">
            <a:spAutoFit/>
          </a:bodyPr>
          <a:lstStyle/>
          <a:p>
            <a:pPr>
              <a:lnSpc>
                <a:spcPct val="100000"/>
              </a:lnSpc>
              <a:spcBef>
                <a:spcPts val="0"/>
              </a:spcBef>
              <a:spcAft>
                <a:spcPts val="400"/>
              </a:spcAft>
            </a:pPr>
            <a:r>
              <a:rPr sz="1150" b="0" i="0">
                <a:solidFill>
                  <a:srgbClr val="586878"/>
                </a:solidFill>
                <a:latin typeface="Segoe UI"/>
              </a:rPr>
              <a:t>phát hiện dương (pathology generalize)</a:t>
            </a:r>
          </a:p>
        </p:txBody>
      </p:sp>
      <p:sp>
        <p:nvSpPr>
          <p:cNvPr id="16" name="Rounded Rectangle 15"/>
          <p:cNvSpPr/>
          <p:nvPr/>
        </p:nvSpPr>
        <p:spPr>
          <a:xfrm>
            <a:off x="8778240" y="4800600"/>
            <a:ext cx="2514600" cy="1234440"/>
          </a:xfrm>
          <a:prstGeom prst="roundRect">
            <a:avLst>
              <a:gd name="adj" fmla="val 8000"/>
            </a:avLst>
          </a:prstGeom>
          <a:solidFill>
            <a:srgbClr val="F4F6F8"/>
          </a:solidFill>
          <a:ln w="12700">
            <a:solidFill>
              <a:srgbClr val="E0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79408" y="4983480"/>
            <a:ext cx="2194560" cy="640080"/>
          </a:xfrm>
          <a:prstGeom prst="rect">
            <a:avLst/>
          </a:prstGeom>
          <a:noFill/>
        </p:spPr>
        <p:txBody>
          <a:bodyPr wrap="square" anchor="t" lIns="0" rIns="0" tIns="0" bIns="0">
            <a:spAutoFit/>
          </a:bodyPr>
          <a:lstStyle/>
          <a:p>
            <a:pPr>
              <a:lnSpc>
                <a:spcPct val="105000"/>
              </a:lnSpc>
              <a:spcBef>
                <a:spcPts val="0"/>
              </a:spcBef>
              <a:spcAft>
                <a:spcPts val="400"/>
              </a:spcAft>
            </a:pPr>
            <a:r>
              <a:rPr sz="3000" b="1" i="0">
                <a:solidFill>
                  <a:srgbClr val="B3603A"/>
                </a:solidFill>
                <a:latin typeface="Segoe UI"/>
              </a:rPr>
              <a:t>0</a:t>
            </a:r>
          </a:p>
        </p:txBody>
      </p:sp>
      <p:sp>
        <p:nvSpPr>
          <p:cNvPr id="18" name="TextBox 17"/>
          <p:cNvSpPr txBox="1"/>
          <p:nvPr/>
        </p:nvSpPr>
        <p:spPr>
          <a:xfrm>
            <a:off x="8979408" y="5596128"/>
            <a:ext cx="2240280" cy="502920"/>
          </a:xfrm>
          <a:prstGeom prst="rect">
            <a:avLst/>
          </a:prstGeom>
          <a:noFill/>
        </p:spPr>
        <p:txBody>
          <a:bodyPr wrap="square" anchor="t" lIns="0" rIns="0" tIns="0" bIns="0">
            <a:spAutoFit/>
          </a:bodyPr>
          <a:lstStyle/>
          <a:p>
            <a:pPr>
              <a:lnSpc>
                <a:spcPct val="100000"/>
              </a:lnSpc>
              <a:spcBef>
                <a:spcPts val="0"/>
              </a:spcBef>
              <a:spcAft>
                <a:spcPts val="400"/>
              </a:spcAft>
            </a:pPr>
            <a:r>
              <a:rPr sz="1150" b="0" i="0">
                <a:solidFill>
                  <a:srgbClr val="586878"/>
                </a:solidFill>
                <a:latin typeface="Segoe UI"/>
              </a:rPr>
              <a:t>phương pháp vượt baseline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40">
                <a:solidFill>
                  <a:srgbClr val="1F6F83"/>
                </a:solidFill>
                <a:latin typeface="Segoe UI"/>
              </a:rPr>
              <a:t>BỐI CẢNH &amp; CÂU HỎI</a:t>
            </a:r>
          </a:p>
        </p:txBody>
      </p:sp>
      <p:sp>
        <p:nvSpPr>
          <p:cNvPr id="4" name="TextBox 3"/>
          <p:cNvSpPr txBox="1"/>
          <p:nvPr/>
        </p:nvSpPr>
        <p:spPr>
          <a:xfrm>
            <a:off x="822960" y="932688"/>
            <a:ext cx="10515600" cy="1280160"/>
          </a:xfrm>
          <a:prstGeom prst="rect">
            <a:avLst/>
          </a:prstGeom>
          <a:noFill/>
        </p:spPr>
        <p:txBody>
          <a:bodyPr wrap="square" anchor="t" lIns="0" rIns="0" tIns="0" bIns="0">
            <a:spAutoFit/>
          </a:bodyPr>
          <a:lstStyle/>
          <a:p>
            <a:pPr>
              <a:lnSpc>
                <a:spcPct val="102000"/>
              </a:lnSpc>
              <a:spcBef>
                <a:spcPts val="0"/>
              </a:spcBef>
              <a:spcAft>
                <a:spcPts val="400"/>
              </a:spcAft>
            </a:pPr>
            <a:r>
              <a:rPr sz="2800" b="1" i="0">
                <a:solidFill>
                  <a:srgbClr val="16212B"/>
                </a:solidFill>
                <a:latin typeface="Segoe UI"/>
              </a:rPr>
              <a:t>Bài toán và cách đo</a:t>
            </a:r>
          </a:p>
        </p:txBody>
      </p:sp>
      <p:sp>
        <p:nvSpPr>
          <p:cNvPr id="5" name="TextBox 4"/>
          <p:cNvSpPr txBox="1"/>
          <p:nvPr/>
        </p:nvSpPr>
        <p:spPr>
          <a:xfrm>
            <a:off x="822960" y="1783080"/>
            <a:ext cx="5120640" cy="3657600"/>
          </a:xfrm>
          <a:prstGeom prst="rect">
            <a:avLst/>
          </a:prstGeom>
          <a:noFill/>
        </p:spPr>
        <p:txBody>
          <a:bodyPr wrap="square" anchor="t" lIns="0" rIns="0" tIns="0" bIns="0">
            <a:spAutoFit/>
          </a:bodyPr>
          <a:lstStyle/>
          <a:p>
            <a:pPr>
              <a:lnSpc>
                <a:spcPct val="125000"/>
              </a:lnSpc>
              <a:spcBef>
                <a:spcPts val="0"/>
              </a:spcBef>
              <a:spcAft>
                <a:spcPts val="400"/>
              </a:spcAft>
            </a:pPr>
            <a:r>
              <a:rPr sz="1300" b="0" i="0">
                <a:solidFill>
                  <a:srgbClr val="16212B"/>
                </a:solidFill>
                <a:latin typeface="Segoe UI"/>
              </a:rPr>
              <a:t>Dự đoán đáp ứng liệu pháp PD-(L)1 ở NSCLC bằng cách kết hợp nhiều nguồn: radiomics (CT), pathology (PD-L1 IHC), genomic, điểm PD-L1, xét nghiệm lâm sàng. Mô hình gốc: </a:t>
            </a:r>
            <a:r>
              <a:rPr sz="1300" b="1" i="0">
                <a:solidFill>
                  <a:srgbClr val="16212B"/>
                </a:solidFill>
                <a:latin typeface="Segoe UI"/>
              </a:rPr>
              <a:t>DyAM</a:t>
            </a:r>
            <a:r>
              <a:rPr sz="1300" b="0" i="0">
                <a:solidFill>
                  <a:srgbClr val="16212B"/>
                </a:solidFill>
                <a:latin typeface="Segoe UI"/>
              </a:rPr>
              <a:t> (dynamic attention fusion).</a:t>
            </a:r>
          </a:p>
          <a:p>
            <a:pPr>
              <a:lnSpc>
                <a:spcPct val="105000"/>
              </a:lnSpc>
              <a:spcBef>
                <a:spcPts val="1000"/>
              </a:spcBef>
              <a:spcAft>
                <a:spcPts val="400"/>
              </a:spcAft>
            </a:pPr>
            <a:r>
              <a:rPr sz="1400" b="1" i="0">
                <a:solidFill>
                  <a:srgbClr val="1F6F83"/>
                </a:solidFill>
                <a:latin typeface="Segoe UI"/>
              </a:rPr>
              <a:t>Ba câu hỏi kiểm chứng</a:t>
            </a:r>
          </a:p>
        </p:txBody>
      </p:sp>
      <p:sp>
        <p:nvSpPr>
          <p:cNvPr id="6" name="TextBox 5"/>
          <p:cNvSpPr txBox="1"/>
          <p:nvPr/>
        </p:nvSpPr>
        <p:spPr>
          <a:xfrm>
            <a:off x="822960" y="3063240"/>
            <a:ext cx="5120640" cy="2377440"/>
          </a:xfrm>
          <a:prstGeom prst="rect">
            <a:avLst/>
          </a:prstGeom>
          <a:noFill/>
        </p:spPr>
        <p:txBody>
          <a:bodyPr wrap="square" anchor="t" lIns="0" rIns="0" tIns="0" bIns="0">
            <a:spAutoFit/>
          </a:bodyPr>
          <a:lstStyle/>
          <a:p>
            <a:pPr>
              <a:lnSpc>
                <a:spcPct val="112000"/>
              </a:lnSpc>
              <a:spcBef>
                <a:spcPts val="0"/>
              </a:spcBef>
              <a:spcAft>
                <a:spcPts val="600"/>
              </a:spcAft>
            </a:pPr>
            <a:r>
              <a:rPr sz="1300" b="1" i="0">
                <a:solidFill>
                  <a:srgbClr val="1F6F83"/>
                </a:solidFill>
                <a:latin typeface="Segoe UI"/>
              </a:rPr>
              <a:t>•  </a:t>
            </a:r>
            <a:r>
              <a:rPr sz="1300" b="0" i="0">
                <a:solidFill>
                  <a:srgbClr val="16212B"/>
                </a:solidFill>
                <a:latin typeface="Segoe UI"/>
              </a:rPr>
              <a:t>Attention học của DyAM có hơn trung bình đơn giản?</a:t>
            </a:r>
          </a:p>
          <a:p>
            <a:pPr>
              <a:lnSpc>
                <a:spcPct val="112000"/>
              </a:lnSpc>
              <a:spcBef>
                <a:spcPts val="0"/>
              </a:spcBef>
              <a:spcAft>
                <a:spcPts val="600"/>
              </a:spcAft>
            </a:pPr>
            <a:r>
              <a:rPr sz="1300" b="1" i="0">
                <a:solidFill>
                  <a:srgbClr val="1F6F83"/>
                </a:solidFill>
                <a:latin typeface="Segoe UI"/>
              </a:rPr>
              <a:t>•  </a:t>
            </a:r>
            <a:r>
              <a:rPr sz="1300" b="0" i="0">
                <a:solidFill>
                  <a:srgbClr val="16212B"/>
                </a:solidFill>
                <a:latin typeface="Segoe UI"/>
              </a:rPr>
              <a:t>Foundation embedding từ ảnh gốc có phá được trần / rào generalization?</a:t>
            </a:r>
          </a:p>
          <a:p>
            <a:pPr>
              <a:lnSpc>
                <a:spcPct val="112000"/>
              </a:lnSpc>
              <a:spcBef>
                <a:spcPts val="0"/>
              </a:spcBef>
              <a:spcAft>
                <a:spcPts val="600"/>
              </a:spcAft>
            </a:pPr>
            <a:r>
              <a:rPr sz="1300" b="1" i="0">
                <a:solidFill>
                  <a:srgbClr val="1F6F83"/>
                </a:solidFill>
                <a:latin typeface="Segoe UI"/>
              </a:rPr>
              <a:t>•  </a:t>
            </a:r>
            <a:r>
              <a:rPr sz="1300" b="0" i="0">
                <a:solidFill>
                  <a:srgbClr val="16212B"/>
                </a:solidFill>
                <a:latin typeface="Segoe UI"/>
              </a:rPr>
              <a:t>TabPFN (model hiện đại) có hơn hồi quy tuyến tính trên dữ liệu nhỏ?</a:t>
            </a:r>
          </a:p>
        </p:txBody>
      </p:sp>
      <p:sp>
        <p:nvSpPr>
          <p:cNvPr id="7" name="TextBox 6"/>
          <p:cNvSpPr txBox="1"/>
          <p:nvPr/>
        </p:nvSpPr>
        <p:spPr>
          <a:xfrm>
            <a:off x="6309360" y="1783080"/>
            <a:ext cx="5029200" cy="457200"/>
          </a:xfrm>
          <a:prstGeom prst="rect">
            <a:avLst/>
          </a:prstGeom>
          <a:noFill/>
        </p:spPr>
        <p:txBody>
          <a:bodyPr wrap="square" anchor="t" lIns="0" rIns="0" tIns="0" bIns="0">
            <a:spAutoFit/>
          </a:bodyPr>
          <a:lstStyle/>
          <a:p>
            <a:pPr>
              <a:lnSpc>
                <a:spcPct val="105000"/>
              </a:lnSpc>
              <a:spcBef>
                <a:spcPts val="0"/>
              </a:spcBef>
              <a:spcAft>
                <a:spcPts val="400"/>
              </a:spcAft>
            </a:pPr>
            <a:r>
              <a:rPr sz="1400" b="1" i="0">
                <a:solidFill>
                  <a:srgbClr val="1F6F83"/>
                </a:solidFill>
                <a:latin typeface="Segoe UI"/>
              </a:rPr>
              <a:t>Quy tắc đánh giá (chống tự huyễn)</a:t>
            </a:r>
          </a:p>
        </p:txBody>
      </p:sp>
      <p:sp>
        <p:nvSpPr>
          <p:cNvPr id="8" name="TextBox 7"/>
          <p:cNvSpPr txBox="1"/>
          <p:nvPr/>
        </p:nvSpPr>
        <p:spPr>
          <a:xfrm>
            <a:off x="6309360" y="2286000"/>
            <a:ext cx="5029200" cy="2377440"/>
          </a:xfrm>
          <a:prstGeom prst="rect">
            <a:avLst/>
          </a:prstGeom>
          <a:noFill/>
        </p:spPr>
        <p:txBody>
          <a:bodyPr wrap="square" anchor="t" lIns="0" rIns="0" tIns="0" bIns="0">
            <a:spAutoFit/>
          </a:bodyPr>
          <a:lstStyle/>
          <a:p>
            <a:pPr>
              <a:lnSpc>
                <a:spcPct val="112000"/>
              </a:lnSpc>
              <a:spcBef>
                <a:spcPts val="0"/>
              </a:spcBef>
              <a:spcAft>
                <a:spcPts val="600"/>
              </a:spcAft>
            </a:pPr>
            <a:r>
              <a:rPr sz="1300" b="1" i="0">
                <a:solidFill>
                  <a:srgbClr val="1F6F83"/>
                </a:solidFill>
                <a:latin typeface="Segoe UI"/>
              </a:rPr>
              <a:t>•  </a:t>
            </a:r>
            <a:r>
              <a:rPr sz="1300" b="1" i="0">
                <a:solidFill>
                  <a:srgbClr val="16212B"/>
                </a:solidFill>
                <a:latin typeface="Segoe UI"/>
              </a:rPr>
              <a:t>5-seed × 10-fold</a:t>
            </a:r>
            <a:r>
              <a:rPr sz="1300" b="0" i="0">
                <a:solidFill>
                  <a:srgbClr val="16212B"/>
                </a:solidFill>
                <a:latin typeface="Segoe UI"/>
              </a:rPr>
              <a:t> hoán vị phân hoạch — chống cherry-pick 1-lần.</a:t>
            </a:r>
          </a:p>
          <a:p>
            <a:pPr>
              <a:lnSpc>
                <a:spcPct val="112000"/>
              </a:lnSpc>
              <a:spcBef>
                <a:spcPts val="0"/>
              </a:spcBef>
              <a:spcAft>
                <a:spcPts val="600"/>
              </a:spcAft>
            </a:pPr>
            <a:r>
              <a:rPr sz="1300" b="1" i="0">
                <a:solidFill>
                  <a:srgbClr val="1F6F83"/>
                </a:solidFill>
                <a:latin typeface="Segoe UI"/>
              </a:rPr>
              <a:t>•  </a:t>
            </a:r>
            <a:r>
              <a:rPr sz="1300" b="1" i="0">
                <a:solidFill>
                  <a:srgbClr val="16212B"/>
                </a:solidFill>
                <a:latin typeface="Segoe UI"/>
              </a:rPr>
              <a:t>Paired bootstrap</a:t>
            </a:r>
            <a:r>
              <a:rPr sz="1300" b="0" i="0">
                <a:solidFill>
                  <a:srgbClr val="16212B"/>
                </a:solidFill>
                <a:latin typeface="Segoe UI"/>
              </a:rPr>
              <a:t> trên bệnh nhân để so có ý nghĩa.</a:t>
            </a:r>
          </a:p>
          <a:p>
            <a:pPr>
              <a:lnSpc>
                <a:spcPct val="112000"/>
              </a:lnSpc>
              <a:spcBef>
                <a:spcPts val="0"/>
              </a:spcBef>
              <a:spcAft>
                <a:spcPts val="600"/>
              </a:spcAft>
            </a:pPr>
            <a:r>
              <a:rPr sz="1300" b="1" i="0">
                <a:solidFill>
                  <a:srgbClr val="1F6F83"/>
                </a:solidFill>
                <a:latin typeface="Segoe UI"/>
              </a:rPr>
              <a:t>•  </a:t>
            </a:r>
            <a:r>
              <a:rPr sz="1300" b="1" i="0">
                <a:solidFill>
                  <a:srgbClr val="16212B"/>
                </a:solidFill>
                <a:latin typeface="Segoe UI"/>
              </a:rPr>
              <a:t>External validation</a:t>
            </a:r>
            <a:r>
              <a:rPr sz="1300" b="0" i="0">
                <a:solidFill>
                  <a:srgbClr val="16212B"/>
                </a:solidFill>
                <a:latin typeface="Segoe UI"/>
              </a:rPr>
              <a:t> trên cohort ngoài — thước đo quan trọng nhất.</a:t>
            </a:r>
          </a:p>
        </p:txBody>
      </p:sp>
      <p:sp>
        <p:nvSpPr>
          <p:cNvPr id="9" name="Rectangle 8"/>
          <p:cNvSpPr/>
          <p:nvPr/>
        </p:nvSpPr>
        <p:spPr>
          <a:xfrm>
            <a:off x="822960" y="5806440"/>
            <a:ext cx="10543032" cy="74980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5806440"/>
            <a:ext cx="54864" cy="749808"/>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5916168"/>
            <a:ext cx="10177272" cy="566928"/>
          </a:xfrm>
          <a:prstGeom prst="rect">
            <a:avLst/>
          </a:prstGeom>
          <a:noFill/>
        </p:spPr>
        <p:txBody>
          <a:bodyPr wrap="square" anchor="ctr" lIns="0" rIns="0" tIns="0" bIns="0">
            <a:spAutoFit/>
          </a:bodyPr>
          <a:lstStyle/>
          <a:p>
            <a:pPr>
              <a:lnSpc>
                <a:spcPct val="108000"/>
              </a:lnSpc>
              <a:spcBef>
                <a:spcPts val="0"/>
              </a:spcBef>
              <a:spcAft>
                <a:spcPts val="400"/>
              </a:spcAft>
            </a:pPr>
            <a:r>
              <a:rPr sz="1050" b="1" i="0" spc="120">
                <a:solidFill>
                  <a:srgbClr val="1F6F83"/>
                </a:solidFill>
                <a:latin typeface="Segoe UI"/>
              </a:rPr>
              <a:t>LƯU Ý   </a:t>
            </a:r>
            <a:r>
              <a:rPr sz="1300" b="0" i="0">
                <a:solidFill>
                  <a:srgbClr val="16212B"/>
                </a:solidFill>
                <a:latin typeface="Segoe UI"/>
              </a:rPr>
              <a:t>AUC nội bộ đã kịch trần ~0.78 từ trước → trọng tâm là </a:t>
            </a:r>
            <a:r>
              <a:rPr sz="1300" b="1" i="0">
                <a:solidFill>
                  <a:srgbClr val="16212B"/>
                </a:solidFill>
                <a:latin typeface="Segoe UI"/>
              </a:rPr>
              <a:t>generalization &amp; không thua baseline</a:t>
            </a:r>
            <a:r>
              <a:rPr sz="1300" b="0" i="0">
                <a:solidFill>
                  <a:srgbClr val="16212B"/>
                </a:solidFill>
                <a:latin typeface="Segoe UI"/>
              </a:rPr>
              <a:t>, không đua số nội bộ.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40">
                <a:solidFill>
                  <a:srgbClr val="1F6F83"/>
                </a:solidFill>
                <a:latin typeface="Segoe UI"/>
              </a:rPr>
              <a:t>MÔ HÌNH BASELINE — THỨ MỌI PHƯƠNG PHÁP PHẢI VƯỢT</a:t>
            </a:r>
          </a:p>
        </p:txBody>
      </p:sp>
      <p:sp>
        <p:nvSpPr>
          <p:cNvPr id="4" name="TextBox 3"/>
          <p:cNvSpPr txBox="1"/>
          <p:nvPr/>
        </p:nvSpPr>
        <p:spPr>
          <a:xfrm>
            <a:off x="822960" y="932688"/>
            <a:ext cx="10515600" cy="1280160"/>
          </a:xfrm>
          <a:prstGeom prst="rect">
            <a:avLst/>
          </a:prstGeom>
          <a:noFill/>
        </p:spPr>
        <p:txBody>
          <a:bodyPr wrap="square" anchor="t" lIns="0" rIns="0" tIns="0" bIns="0">
            <a:spAutoFit/>
          </a:bodyPr>
          <a:lstStyle/>
          <a:p>
            <a:pPr>
              <a:lnSpc>
                <a:spcPct val="102000"/>
              </a:lnSpc>
              <a:spcBef>
                <a:spcPts val="0"/>
              </a:spcBef>
              <a:spcAft>
                <a:spcPts val="400"/>
              </a:spcAft>
            </a:pPr>
            <a:r>
              <a:rPr sz="2500" b="1" i="0">
                <a:solidFill>
                  <a:srgbClr val="16212B"/>
                </a:solidFill>
                <a:latin typeface="Segoe UI"/>
              </a:rPr>
              <a:t>uniform_avg: trung bình có-mask, không attention</a:t>
            </a:r>
          </a:p>
        </p:txBody>
      </p:sp>
      <p:pic>
        <p:nvPicPr>
          <p:cNvPr id="5" name="Picture 4" descr="fig_uniform_arch.png"/>
          <p:cNvPicPr>
            <a:picLocks noChangeAspect="1"/>
          </p:cNvPicPr>
          <p:nvPr/>
        </p:nvPicPr>
        <p:blipFill>
          <a:blip r:embed="rId2"/>
          <a:stretch>
            <a:fillRect/>
          </a:stretch>
        </p:blipFill>
        <p:spPr>
          <a:xfrm>
            <a:off x="1249527" y="1965960"/>
            <a:ext cx="9692640" cy="3527835"/>
          </a:xfrm>
          <a:prstGeom prst="rect">
            <a:avLst/>
          </a:prstGeom>
        </p:spPr>
      </p:pic>
      <p:sp>
        <p:nvSpPr>
          <p:cNvPr id="6" name="Rectangle 5"/>
          <p:cNvSpPr/>
          <p:nvPr/>
        </p:nvSpPr>
        <p:spPr>
          <a:xfrm>
            <a:off x="822960" y="5806440"/>
            <a:ext cx="10543032" cy="74980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5806440"/>
            <a:ext cx="54864" cy="749808"/>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916168"/>
            <a:ext cx="10177272" cy="566928"/>
          </a:xfrm>
          <a:prstGeom prst="rect">
            <a:avLst/>
          </a:prstGeom>
          <a:noFill/>
        </p:spPr>
        <p:txBody>
          <a:bodyPr wrap="square" anchor="ctr" lIns="0" rIns="0" tIns="0" bIns="0">
            <a:spAutoFit/>
          </a:bodyPr>
          <a:lstStyle/>
          <a:p>
            <a:pPr>
              <a:lnSpc>
                <a:spcPct val="108000"/>
              </a:lnSpc>
              <a:spcBef>
                <a:spcPts val="0"/>
              </a:spcBef>
              <a:spcAft>
                <a:spcPts val="400"/>
              </a:spcAft>
            </a:pPr>
            <a:r>
              <a:rPr sz="1050" b="1" i="0" spc="120">
                <a:solidFill>
                  <a:srgbClr val="1F6F83"/>
                </a:solidFill>
                <a:latin typeface="Segoe UI"/>
              </a:rPr>
              <a:t>VÌ SAO QUAN TRỌNG   </a:t>
            </a:r>
            <a:r>
              <a:rPr sz="1300" b="0" i="0">
                <a:solidFill>
                  <a:srgbClr val="16212B"/>
                </a:solidFill>
                <a:latin typeface="Segoe UI"/>
              </a:rPr>
              <a:t>Bỏ hoàn toàn attention học mà AUC KHÔNG giảm (còn nhỉnh) → </a:t>
            </a:r>
            <a:r>
              <a:rPr sz="1300" b="1" i="0">
                <a:solidFill>
                  <a:srgbClr val="16212B"/>
                </a:solidFill>
                <a:latin typeface="Segoe UI"/>
              </a:rPr>
              <a:t>attention của DyAM không đóng góp</a:t>
            </a:r>
            <a:r>
              <a:rPr sz="1300" b="0" i="0">
                <a:solidFill>
                  <a:srgbClr val="16212B"/>
                </a:solidFill>
                <a:latin typeface="Segoe UI"/>
              </a:rPr>
              <a:t>. Baseline này là mốc để đánh giá mọi thứ phức tạp hơn.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40">
                <a:solidFill>
                  <a:srgbClr val="1F6F83"/>
                </a:solidFill>
                <a:latin typeface="Segoe UI"/>
              </a:rPr>
              <a:t>HAI BIẾN THỂ ATTENTION HỌC ĐƯỢC — MÔ HÌNH GỐC DYAM</a:t>
            </a:r>
          </a:p>
        </p:txBody>
      </p:sp>
      <p:sp>
        <p:nvSpPr>
          <p:cNvPr id="4" name="TextBox 3"/>
          <p:cNvSpPr txBox="1"/>
          <p:nvPr/>
        </p:nvSpPr>
        <p:spPr>
          <a:xfrm>
            <a:off x="822960" y="932688"/>
            <a:ext cx="10515600" cy="1280160"/>
          </a:xfrm>
          <a:prstGeom prst="rect">
            <a:avLst/>
          </a:prstGeom>
          <a:noFill/>
        </p:spPr>
        <p:txBody>
          <a:bodyPr wrap="square" anchor="t" lIns="0" rIns="0" tIns="0" bIns="0">
            <a:spAutoFit/>
          </a:bodyPr>
          <a:lstStyle/>
          <a:p>
            <a:pPr>
              <a:lnSpc>
                <a:spcPct val="102000"/>
              </a:lnSpc>
              <a:spcBef>
                <a:spcPts val="0"/>
              </a:spcBef>
              <a:spcAft>
                <a:spcPts val="400"/>
              </a:spcAft>
            </a:pPr>
            <a:r>
              <a:rPr sz="2300" b="1" i="0">
                <a:solidFill>
                  <a:srgbClr val="16212B"/>
                </a:solidFill>
                <a:latin typeface="Segoe UI"/>
              </a:rPr>
              <a:t>DyAM: Cooperative (A)  &amp;  Competitive / OvO (B)</a:t>
            </a:r>
          </a:p>
        </p:txBody>
      </p:sp>
      <p:pic>
        <p:nvPicPr>
          <p:cNvPr id="5" name="Picture 4" descr="fig_attention_arch.png"/>
          <p:cNvPicPr>
            <a:picLocks noChangeAspect="1"/>
          </p:cNvPicPr>
          <p:nvPr/>
        </p:nvPicPr>
        <p:blipFill>
          <a:blip r:embed="rId2"/>
          <a:stretch>
            <a:fillRect/>
          </a:stretch>
        </p:blipFill>
        <p:spPr>
          <a:xfrm>
            <a:off x="2095347" y="1463040"/>
            <a:ext cx="8001000" cy="4991257"/>
          </a:xfrm>
          <a:prstGeom prst="rect">
            <a:avLst/>
          </a:prstGeom>
        </p:spPr>
      </p:pic>
      <p:sp>
        <p:nvSpPr>
          <p:cNvPr id="6" name="TextBox 5"/>
          <p:cNvSpPr txBox="1"/>
          <p:nvPr/>
        </p:nvSpPr>
        <p:spPr>
          <a:xfrm>
            <a:off x="822960" y="6419088"/>
            <a:ext cx="10543032" cy="347472"/>
          </a:xfrm>
          <a:prstGeom prst="rect">
            <a:avLst/>
          </a:prstGeom>
          <a:noFill/>
        </p:spPr>
        <p:txBody>
          <a:bodyPr wrap="square" anchor="t" lIns="0" rIns="0" tIns="0" bIns="0">
            <a:spAutoFit/>
          </a:bodyPr>
          <a:lstStyle/>
          <a:p>
            <a:pPr algn="ctr">
              <a:lnSpc>
                <a:spcPct val="105000"/>
              </a:lnSpc>
              <a:spcBef>
                <a:spcPts val="0"/>
              </a:spcBef>
              <a:spcAft>
                <a:spcPts val="400"/>
              </a:spcAft>
            </a:pPr>
            <a:r>
              <a:rPr sz="1150" b="0" i="0">
                <a:solidFill>
                  <a:srgbClr val="586878"/>
                </a:solidFill>
                <a:latin typeface="Segoe UI"/>
              </a:rPr>
              <a:t>Cả hai HỌC trọng số aᵢ (khác uniform_avg chia đều 1/Σmask) — nhưng thực nghiệm cho thấy không hơn baseline.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40">
                <a:solidFill>
                  <a:srgbClr val="8595A3"/>
                </a:solidFill>
                <a:latin typeface="Segoe UI"/>
              </a:rPr>
              <a:t>A  </a:t>
            </a:r>
            <a:r>
              <a:rPr sz="1200" b="1" i="0" spc="140">
                <a:solidFill>
                  <a:srgbClr val="1F6F83"/>
                </a:solidFill>
                <a:latin typeface="Segoe UI"/>
              </a:rPr>
              <a:t>FUSION ATTENTION VS TRUNG BÌNH ĐƠN GIẢN</a:t>
            </a:r>
          </a:p>
        </p:txBody>
      </p:sp>
      <p:sp>
        <p:nvSpPr>
          <p:cNvPr id="4" name="TextBox 3"/>
          <p:cNvSpPr txBox="1"/>
          <p:nvPr/>
        </p:nvSpPr>
        <p:spPr>
          <a:xfrm>
            <a:off x="822960" y="932688"/>
            <a:ext cx="10515600" cy="1280160"/>
          </a:xfrm>
          <a:prstGeom prst="rect">
            <a:avLst/>
          </a:prstGeom>
          <a:noFill/>
        </p:spPr>
        <p:txBody>
          <a:bodyPr wrap="square" anchor="t" lIns="0" rIns="0" tIns="0" bIns="0">
            <a:spAutoFit/>
          </a:bodyPr>
          <a:lstStyle/>
          <a:p>
            <a:pPr>
              <a:lnSpc>
                <a:spcPct val="102000"/>
              </a:lnSpc>
              <a:spcBef>
                <a:spcPts val="0"/>
              </a:spcBef>
              <a:spcAft>
                <a:spcPts val="400"/>
              </a:spcAft>
            </a:pPr>
            <a:r>
              <a:rPr sz="2600" b="1" i="0">
                <a:solidFill>
                  <a:srgbClr val="16212B"/>
                </a:solidFill>
                <a:latin typeface="Segoe UI"/>
              </a:rPr>
              <a:t>uniform_avg ≥ DyAM/OvO trên mọi tổ hợp nguồn</a:t>
            </a:r>
          </a:p>
        </p:txBody>
      </p:sp>
      <p:sp>
        <p:nvSpPr>
          <p:cNvPr id="5" name="Rounded Rectangle 4"/>
          <p:cNvSpPr/>
          <p:nvPr/>
        </p:nvSpPr>
        <p:spPr>
          <a:xfrm>
            <a:off x="822960" y="1600200"/>
            <a:ext cx="6163056" cy="310896"/>
          </a:xfrm>
          <a:prstGeom prst="roundRect">
            <a:avLst>
              <a:gd name="adj" fmla="val 8000"/>
            </a:avLst>
          </a:prstGeom>
          <a:solidFill>
            <a:srgbClr val="F5E7DF"/>
          </a:solidFill>
          <a:ln w="9525">
            <a:solidFill>
              <a:srgbClr val="B3603A"/>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150" b="1" i="0">
                <a:solidFill>
                  <a:srgbClr val="B3603A"/>
                </a:solidFill>
                <a:latin typeface="Segoe UI"/>
              </a:rPr>
              <a:t>Luận điểm “DyAM tốt hơn khi nhiều nguồn”: BÁC BỎ</a:t>
            </a:r>
          </a:p>
        </p:txBody>
      </p:sp>
      <p:sp>
        <p:nvSpPr>
          <p:cNvPr id="6" name="Rounded Rectangle 5"/>
          <p:cNvSpPr/>
          <p:nvPr/>
        </p:nvSpPr>
        <p:spPr>
          <a:xfrm>
            <a:off x="5852160" y="1600200"/>
            <a:ext cx="3191256" cy="310896"/>
          </a:xfrm>
          <a:prstGeom prst="roundRect">
            <a:avLst>
              <a:gd name="adj" fmla="val 8000"/>
            </a:avLst>
          </a:prstGeom>
          <a:solidFill>
            <a:srgbClr val="F4F6F8"/>
          </a:solidFill>
          <a:ln w="9525">
            <a:solidFill>
              <a:srgbClr val="586878"/>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150" b="1" i="0">
                <a:solidFill>
                  <a:srgbClr val="586878"/>
                </a:solidFill>
                <a:latin typeface="Segoe UI"/>
              </a:rPr>
              <a:t>26 + 21 tổ hợp · 5-seed</a:t>
            </a:r>
          </a:p>
        </p:txBody>
      </p:sp>
      <p:sp>
        <p:nvSpPr>
          <p:cNvPr id="7" name="TextBox 6"/>
          <p:cNvSpPr txBox="1"/>
          <p:nvPr/>
        </p:nvSpPr>
        <p:spPr>
          <a:xfrm>
            <a:off x="822960" y="2194560"/>
            <a:ext cx="5120640" cy="640080"/>
          </a:xfrm>
          <a:prstGeom prst="rect">
            <a:avLst/>
          </a:prstGeom>
          <a:noFill/>
        </p:spPr>
        <p:txBody>
          <a:bodyPr wrap="square" anchor="t" lIns="0" rIns="0" tIns="0" bIns="0">
            <a:spAutoFit/>
          </a:bodyPr>
          <a:lstStyle/>
          <a:p>
            <a:pPr>
              <a:lnSpc>
                <a:spcPct val="115000"/>
              </a:lnSpc>
              <a:spcBef>
                <a:spcPts val="0"/>
              </a:spcBef>
              <a:spcAft>
                <a:spcPts val="400"/>
              </a:spcAft>
            </a:pPr>
            <a:r>
              <a:rPr sz="1300" b="1" i="0">
                <a:solidFill>
                  <a:srgbClr val="16212B"/>
                </a:solidFill>
                <a:latin typeface="Segoe UI"/>
              </a:rPr>
              <a:t>Δ = uniform − DyAM </a:t>
            </a:r>
            <a:r>
              <a:rPr sz="1300" b="0" i="0">
                <a:solidFill>
                  <a:srgbClr val="16212B"/>
                </a:solidFill>
                <a:latin typeface="Segoe UI"/>
              </a:rPr>
              <a:t>tăng theo số nguồn k — ngược kỳ vọng “nhiều nguồn thì attention thắng”.</a:t>
            </a:r>
          </a:p>
        </p:txBody>
      </p:sp>
      <p:sp>
        <p:nvSpPr>
          <p:cNvPr id="8" name="TextBox 7"/>
          <p:cNvSpPr txBox="1"/>
          <p:nvPr/>
        </p:nvSpPr>
        <p:spPr>
          <a:xfrm>
            <a:off x="822960" y="2953512"/>
            <a:ext cx="1828800" cy="274320"/>
          </a:xfrm>
          <a:prstGeom prst="rect">
            <a:avLst/>
          </a:prstGeom>
          <a:noFill/>
        </p:spPr>
        <p:txBody>
          <a:bodyPr wrap="square" anchor="ctr" lIns="0" rIns="0" tIns="0" bIns="0">
            <a:spAutoFit/>
          </a:bodyPr>
          <a:lstStyle/>
          <a:p>
            <a:pPr>
              <a:lnSpc>
                <a:spcPct val="105000"/>
              </a:lnSpc>
              <a:spcBef>
                <a:spcPts val="0"/>
              </a:spcBef>
              <a:spcAft>
                <a:spcPts val="400"/>
              </a:spcAft>
            </a:pPr>
            <a:r>
              <a:rPr sz="1200" b="0" i="0">
                <a:solidFill>
                  <a:srgbClr val="586878"/>
                </a:solidFill>
                <a:latin typeface="Segoe UI"/>
              </a:rPr>
              <a:t>k = 2 nguồn</a:t>
            </a:r>
          </a:p>
        </p:txBody>
      </p:sp>
      <p:sp>
        <p:nvSpPr>
          <p:cNvPr id="9" name="Rectangle 8"/>
          <p:cNvSpPr/>
          <p:nvPr/>
        </p:nvSpPr>
        <p:spPr>
          <a:xfrm>
            <a:off x="2697479" y="2971800"/>
            <a:ext cx="2423160" cy="20116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97479" y="2971800"/>
            <a:ext cx="242316" cy="201168"/>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59" y="2953512"/>
            <a:ext cx="777240" cy="274320"/>
          </a:xfrm>
          <a:prstGeom prst="rect">
            <a:avLst/>
          </a:prstGeom>
          <a:noFill/>
        </p:spPr>
        <p:txBody>
          <a:bodyPr wrap="square" anchor="ctr" lIns="0" rIns="0" tIns="0" bIns="0">
            <a:spAutoFit/>
          </a:bodyPr>
          <a:lstStyle/>
          <a:p>
            <a:pPr algn="r">
              <a:lnSpc>
                <a:spcPct val="105000"/>
              </a:lnSpc>
              <a:spcBef>
                <a:spcPts val="0"/>
              </a:spcBef>
              <a:spcAft>
                <a:spcPts val="400"/>
              </a:spcAft>
            </a:pPr>
            <a:r>
              <a:rPr sz="1200" b="1" i="0">
                <a:solidFill>
                  <a:srgbClr val="16212B"/>
                </a:solidFill>
                <a:latin typeface="Segoe UI"/>
              </a:rPr>
              <a:t>+0.001</a:t>
            </a:r>
          </a:p>
        </p:txBody>
      </p:sp>
      <p:sp>
        <p:nvSpPr>
          <p:cNvPr id="12" name="TextBox 11"/>
          <p:cNvSpPr txBox="1"/>
          <p:nvPr/>
        </p:nvSpPr>
        <p:spPr>
          <a:xfrm>
            <a:off x="822960" y="3364992"/>
            <a:ext cx="1828800" cy="274320"/>
          </a:xfrm>
          <a:prstGeom prst="rect">
            <a:avLst/>
          </a:prstGeom>
          <a:noFill/>
        </p:spPr>
        <p:txBody>
          <a:bodyPr wrap="square" anchor="ctr" lIns="0" rIns="0" tIns="0" bIns="0">
            <a:spAutoFit/>
          </a:bodyPr>
          <a:lstStyle/>
          <a:p>
            <a:pPr>
              <a:lnSpc>
                <a:spcPct val="105000"/>
              </a:lnSpc>
              <a:spcBef>
                <a:spcPts val="0"/>
              </a:spcBef>
              <a:spcAft>
                <a:spcPts val="400"/>
              </a:spcAft>
            </a:pPr>
            <a:r>
              <a:rPr sz="1200" b="0" i="0">
                <a:solidFill>
                  <a:srgbClr val="586878"/>
                </a:solidFill>
                <a:latin typeface="Segoe UI"/>
              </a:rPr>
              <a:t>k = 3 nguồn</a:t>
            </a:r>
          </a:p>
        </p:txBody>
      </p:sp>
      <p:sp>
        <p:nvSpPr>
          <p:cNvPr id="13" name="Rectangle 12"/>
          <p:cNvSpPr/>
          <p:nvPr/>
        </p:nvSpPr>
        <p:spPr>
          <a:xfrm>
            <a:off x="2697479" y="3383280"/>
            <a:ext cx="2423160" cy="20116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7479" y="3383280"/>
            <a:ext cx="1332738" cy="201168"/>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66359" y="3364992"/>
            <a:ext cx="777240" cy="274320"/>
          </a:xfrm>
          <a:prstGeom prst="rect">
            <a:avLst/>
          </a:prstGeom>
          <a:noFill/>
        </p:spPr>
        <p:txBody>
          <a:bodyPr wrap="square" anchor="ctr" lIns="0" rIns="0" tIns="0" bIns="0">
            <a:spAutoFit/>
          </a:bodyPr>
          <a:lstStyle/>
          <a:p>
            <a:pPr algn="r">
              <a:lnSpc>
                <a:spcPct val="105000"/>
              </a:lnSpc>
              <a:spcBef>
                <a:spcPts val="0"/>
              </a:spcBef>
              <a:spcAft>
                <a:spcPts val="400"/>
              </a:spcAft>
            </a:pPr>
            <a:r>
              <a:rPr sz="1200" b="1" i="0">
                <a:solidFill>
                  <a:srgbClr val="16212B"/>
                </a:solidFill>
                <a:latin typeface="Segoe UI"/>
              </a:rPr>
              <a:t>+0.007</a:t>
            </a:r>
          </a:p>
        </p:txBody>
      </p:sp>
      <p:sp>
        <p:nvSpPr>
          <p:cNvPr id="16" name="TextBox 15"/>
          <p:cNvSpPr txBox="1"/>
          <p:nvPr/>
        </p:nvSpPr>
        <p:spPr>
          <a:xfrm>
            <a:off x="822960" y="3776472"/>
            <a:ext cx="1828800" cy="274320"/>
          </a:xfrm>
          <a:prstGeom prst="rect">
            <a:avLst/>
          </a:prstGeom>
          <a:noFill/>
        </p:spPr>
        <p:txBody>
          <a:bodyPr wrap="square" anchor="ctr" lIns="0" rIns="0" tIns="0" bIns="0">
            <a:spAutoFit/>
          </a:bodyPr>
          <a:lstStyle/>
          <a:p>
            <a:pPr>
              <a:lnSpc>
                <a:spcPct val="105000"/>
              </a:lnSpc>
              <a:spcBef>
                <a:spcPts val="0"/>
              </a:spcBef>
              <a:spcAft>
                <a:spcPts val="400"/>
              </a:spcAft>
            </a:pPr>
            <a:r>
              <a:rPr sz="1200" b="0" i="0">
                <a:solidFill>
                  <a:srgbClr val="586878"/>
                </a:solidFill>
                <a:latin typeface="Segoe UI"/>
              </a:rPr>
              <a:t>k = 4 nguồn</a:t>
            </a:r>
          </a:p>
        </p:txBody>
      </p:sp>
      <p:sp>
        <p:nvSpPr>
          <p:cNvPr id="17" name="Rectangle 16"/>
          <p:cNvSpPr/>
          <p:nvPr/>
        </p:nvSpPr>
        <p:spPr>
          <a:xfrm>
            <a:off x="2697479" y="3794760"/>
            <a:ext cx="2423160" cy="20116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697479" y="3794760"/>
            <a:ext cx="2180844" cy="201168"/>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59" y="3776472"/>
            <a:ext cx="777240" cy="274320"/>
          </a:xfrm>
          <a:prstGeom prst="rect">
            <a:avLst/>
          </a:prstGeom>
          <a:noFill/>
        </p:spPr>
        <p:txBody>
          <a:bodyPr wrap="square" anchor="ctr" lIns="0" rIns="0" tIns="0" bIns="0">
            <a:spAutoFit/>
          </a:bodyPr>
          <a:lstStyle/>
          <a:p>
            <a:pPr algn="r">
              <a:lnSpc>
                <a:spcPct val="105000"/>
              </a:lnSpc>
              <a:spcBef>
                <a:spcPts val="0"/>
              </a:spcBef>
              <a:spcAft>
                <a:spcPts val="400"/>
              </a:spcAft>
            </a:pPr>
            <a:r>
              <a:rPr sz="1200" b="1" i="0">
                <a:solidFill>
                  <a:srgbClr val="16212B"/>
                </a:solidFill>
                <a:latin typeface="Segoe UI"/>
              </a:rPr>
              <a:t>+0.011</a:t>
            </a:r>
          </a:p>
        </p:txBody>
      </p:sp>
      <p:sp>
        <p:nvSpPr>
          <p:cNvPr id="20" name="TextBox 19"/>
          <p:cNvSpPr txBox="1"/>
          <p:nvPr/>
        </p:nvSpPr>
        <p:spPr>
          <a:xfrm>
            <a:off x="822960" y="4251960"/>
            <a:ext cx="5120640" cy="1280160"/>
          </a:xfrm>
          <a:prstGeom prst="rect">
            <a:avLst/>
          </a:prstGeom>
          <a:noFill/>
        </p:spPr>
        <p:txBody>
          <a:bodyPr wrap="square" anchor="t" lIns="0" rIns="0" tIns="0" bIns="0">
            <a:spAutoFit/>
          </a:bodyPr>
          <a:lstStyle/>
          <a:p>
            <a:pPr>
              <a:lnSpc>
                <a:spcPct val="120000"/>
              </a:lnSpc>
              <a:spcBef>
                <a:spcPts val="0"/>
              </a:spcBef>
              <a:spcAft>
                <a:spcPts val="400"/>
              </a:spcAft>
            </a:pPr>
            <a:r>
              <a:rPr sz="1200" b="0" i="0">
                <a:solidFill>
                  <a:srgbClr val="586878"/>
                </a:solidFill>
                <a:latin typeface="Segoe UI"/>
              </a:rPr>
              <a:t>DyAM chỉ thắng có ý nghĩa ở 2/26 combo — đều tại k=2. OvO gần như trùng uniform_avg (±0.005).</a:t>
            </a:r>
          </a:p>
        </p:txBody>
      </p:sp>
      <p:graphicFrame>
        <p:nvGraphicFramePr>
          <p:cNvPr id="21" name="Table 20"/>
          <p:cNvGraphicFramePr>
            <a:graphicFrameLocks noGrp="1"/>
          </p:cNvGraphicFramePr>
          <p:nvPr/>
        </p:nvGraphicFramePr>
        <p:xfrm>
          <a:off x="6309360" y="2331720"/>
          <a:ext cx="5029200" cy="1481328"/>
        </p:xfrm>
        <a:graphic>
          <a:graphicData uri="http://schemas.openxmlformats.org/drawingml/2006/table">
            <a:tbl>
              <a:tblPr firstRow="0" bandRow="0">
                <a:tableStyleId>{5C22544A-7EE6-4342-B048-85BDC9FD1C3A}</a:tableStyleId>
              </a:tblPr>
              <a:tblGrid>
                <a:gridCol w="2651760"/>
                <a:gridCol w="1188720"/>
                <a:gridCol w="1188720"/>
              </a:tblGrid>
              <a:tr h="329184">
                <a:tc>
                  <a:txBody>
                    <a:bodyPr/>
                    <a:lstStyle/>
                    <a:p>
                      <a:pPr algn="l"/>
                      <a:r>
                        <a:rPr sz="1000" b="1" i="0" spc="40">
                          <a:solidFill>
                            <a:srgbClr val="586878"/>
                          </a:solidFill>
                          <a:latin typeface="Segoe UI"/>
                        </a:rPr>
                        <a:t>MODEL</a:t>
                      </a:r>
                    </a:p>
                  </a:txBody>
                  <a:tcPr marL="73152" marR="73152" marT="18288" marB="18288" anchor="ctr">
                    <a:solidFill>
                      <a:srgbClr val="F4F6F8"/>
                    </a:solidFill>
                  </a:tcPr>
                </a:tc>
                <a:tc>
                  <a:txBody>
                    <a:bodyPr/>
                    <a:lstStyle/>
                    <a:p>
                      <a:pPr algn="r"/>
                      <a:r>
                        <a:rPr sz="1000" b="1" i="0" spc="40">
                          <a:solidFill>
                            <a:srgbClr val="586878"/>
                          </a:solidFill>
                          <a:latin typeface="Segoe UI"/>
                        </a:rPr>
                        <a:t>5-SEED</a:t>
                      </a:r>
                    </a:p>
                  </a:txBody>
                  <a:tcPr marL="73152" marR="73152" marT="18288" marB="18288" anchor="ctr">
                    <a:solidFill>
                      <a:srgbClr val="F4F6F8"/>
                    </a:solidFill>
                  </a:tcPr>
                </a:tc>
                <a:tc>
                  <a:txBody>
                    <a:bodyPr/>
                    <a:lstStyle/>
                    <a:p>
                      <a:pPr algn="r"/>
                      <a:r>
                        <a:rPr sz="1000" b="1" i="0" spc="40">
                          <a:solidFill>
                            <a:srgbClr val="586878"/>
                          </a:solidFill>
                          <a:latin typeface="Segoe UI"/>
                        </a:rPr>
                        <a:t>ENS</a:t>
                      </a:r>
                    </a:p>
                  </a:txBody>
                  <a:tcPr marL="73152" marR="73152" marT="18288" marB="18288" anchor="ctr">
                    <a:solidFill>
                      <a:srgbClr val="F4F6F8"/>
                    </a:solidFill>
                  </a:tcPr>
                </a:tc>
              </a:tr>
              <a:tr h="384048">
                <a:tc>
                  <a:txBody>
                    <a:bodyPr/>
                    <a:lstStyle/>
                    <a:p>
                      <a:pPr algn="l"/>
                      <a:r>
                        <a:rPr sz="1200" b="1" i="0">
                          <a:solidFill>
                            <a:srgbClr val="16212B"/>
                          </a:solidFill>
                          <a:latin typeface="Segoe UI"/>
                        </a:rPr>
                        <a:t>uniform_avg (baseline)</a:t>
                      </a:r>
                    </a:p>
                  </a:txBody>
                  <a:tcPr marL="73152" marR="73152" marT="9144" marB="9144" anchor="ctr">
                    <a:solidFill>
                      <a:srgbClr val="E3EEF1"/>
                    </a:solidFill>
                  </a:tcPr>
                </a:tc>
                <a:tc>
                  <a:txBody>
                    <a:bodyPr/>
                    <a:lstStyle/>
                    <a:p>
                      <a:pPr algn="r"/>
                      <a:r>
                        <a:rPr sz="1200" b="1" i="0">
                          <a:solidFill>
                            <a:srgbClr val="1F6F83"/>
                          </a:solidFill>
                          <a:latin typeface="Segoe UI"/>
                        </a:rPr>
                        <a:t>0.7746</a:t>
                      </a:r>
                    </a:p>
                  </a:txBody>
                  <a:tcPr marL="73152" marR="73152" marT="9144" marB="9144" anchor="ctr">
                    <a:solidFill>
                      <a:srgbClr val="E3EEF1"/>
                    </a:solidFill>
                  </a:tcPr>
                </a:tc>
                <a:tc>
                  <a:txBody>
                    <a:bodyPr/>
                    <a:lstStyle/>
                    <a:p>
                      <a:pPr algn="r"/>
                      <a:r>
                        <a:rPr sz="1200" b="1" i="0">
                          <a:solidFill>
                            <a:srgbClr val="1F6F83"/>
                          </a:solidFill>
                          <a:latin typeface="Segoe UI"/>
                        </a:rPr>
                        <a:t>0.7850</a:t>
                      </a:r>
                    </a:p>
                  </a:txBody>
                  <a:tcPr marL="73152" marR="73152" marT="9144" marB="9144" anchor="ctr">
                    <a:solidFill>
                      <a:srgbClr val="E3EEF1"/>
                    </a:solidFill>
                  </a:tcPr>
                </a:tc>
              </a:tr>
              <a:tr h="384048">
                <a:tc>
                  <a:txBody>
                    <a:bodyPr/>
                    <a:lstStyle/>
                    <a:p>
                      <a:pPr algn="l"/>
                      <a:r>
                        <a:rPr sz="1200" b="0" i="0">
                          <a:solidFill>
                            <a:srgbClr val="16212B"/>
                          </a:solidFill>
                          <a:latin typeface="Segoe UI"/>
                        </a:rPr>
                        <a:t>OvO attention</a:t>
                      </a:r>
                    </a:p>
                  </a:txBody>
                  <a:tcPr marL="73152" marR="73152" marT="9144" marB="9144" anchor="ctr">
                    <a:solidFill>
                      <a:srgbClr val="FFFFFF"/>
                    </a:solidFill>
                  </a:tcPr>
                </a:tc>
                <a:tc>
                  <a:txBody>
                    <a:bodyPr/>
                    <a:lstStyle/>
                    <a:p>
                      <a:pPr algn="r"/>
                      <a:r>
                        <a:rPr sz="1200" b="0" i="0">
                          <a:solidFill>
                            <a:srgbClr val="16212B"/>
                          </a:solidFill>
                          <a:latin typeface="Segoe UI"/>
                        </a:rPr>
                        <a:t>0.7728</a:t>
                      </a:r>
                    </a:p>
                  </a:txBody>
                  <a:tcPr marL="73152" marR="73152" marT="9144" marB="9144" anchor="ctr">
                    <a:solidFill>
                      <a:srgbClr val="FFFFFF"/>
                    </a:solidFill>
                  </a:tcPr>
                </a:tc>
                <a:tc>
                  <a:txBody>
                    <a:bodyPr/>
                    <a:lstStyle/>
                    <a:p>
                      <a:pPr algn="r"/>
                      <a:r>
                        <a:rPr sz="1200" b="0" i="0">
                          <a:solidFill>
                            <a:srgbClr val="16212B"/>
                          </a:solidFill>
                          <a:latin typeface="Segoe UI"/>
                        </a:rPr>
                        <a:t>0.7843</a:t>
                      </a:r>
                    </a:p>
                  </a:txBody>
                  <a:tcPr marL="73152" marR="73152" marT="9144" marB="9144" anchor="ctr">
                    <a:solidFill>
                      <a:srgbClr val="FFFFFF"/>
                    </a:solidFill>
                  </a:tcPr>
                </a:tc>
              </a:tr>
              <a:tr h="384048">
                <a:tc>
                  <a:txBody>
                    <a:bodyPr/>
                    <a:lstStyle/>
                    <a:p>
                      <a:pPr algn="l"/>
                      <a:r>
                        <a:rPr sz="1200" b="0" i="0">
                          <a:solidFill>
                            <a:srgbClr val="16212B"/>
                          </a:solidFill>
                          <a:latin typeface="Segoe UI"/>
                        </a:rPr>
                        <a:t>DyAM attention</a:t>
                      </a:r>
                    </a:p>
                  </a:txBody>
                  <a:tcPr marL="73152" marR="73152" marT="9144" marB="9144" anchor="ctr">
                    <a:solidFill>
                      <a:srgbClr val="FFFFFF"/>
                    </a:solidFill>
                  </a:tcPr>
                </a:tc>
                <a:tc>
                  <a:txBody>
                    <a:bodyPr/>
                    <a:lstStyle/>
                    <a:p>
                      <a:pPr algn="r"/>
                      <a:r>
                        <a:rPr sz="1200" b="0" i="0">
                          <a:solidFill>
                            <a:srgbClr val="B3603A"/>
                          </a:solidFill>
                          <a:latin typeface="Segoe UI"/>
                        </a:rPr>
                        <a:t>0.7595</a:t>
                      </a:r>
                    </a:p>
                  </a:txBody>
                  <a:tcPr marL="73152" marR="73152" marT="9144" marB="9144" anchor="ctr">
                    <a:solidFill>
                      <a:srgbClr val="FFFFFF"/>
                    </a:solidFill>
                  </a:tcPr>
                </a:tc>
                <a:tc>
                  <a:txBody>
                    <a:bodyPr/>
                    <a:lstStyle/>
                    <a:p>
                      <a:pPr algn="r"/>
                      <a:r>
                        <a:rPr sz="1200" b="0" i="0">
                          <a:solidFill>
                            <a:srgbClr val="B3603A"/>
                          </a:solidFill>
                          <a:latin typeface="Segoe UI"/>
                        </a:rPr>
                        <a:t>0.7752</a:t>
                      </a:r>
                    </a:p>
                  </a:txBody>
                  <a:tcPr marL="73152" marR="73152" marT="9144" marB="9144" anchor="ctr">
                    <a:solidFill>
                      <a:srgbClr val="FFFFFF"/>
                    </a:solidFill>
                  </a:tcPr>
                </a:tc>
              </a:tr>
            </a:tbl>
          </a:graphicData>
        </a:graphic>
      </p:graphicFrame>
      <p:sp>
        <p:nvSpPr>
          <p:cNvPr id="22" name="TextBox 21"/>
          <p:cNvSpPr txBox="1"/>
          <p:nvPr/>
        </p:nvSpPr>
        <p:spPr>
          <a:xfrm>
            <a:off x="6309360" y="4206240"/>
            <a:ext cx="5029200" cy="457200"/>
          </a:xfrm>
          <a:prstGeom prst="rect">
            <a:avLst/>
          </a:prstGeom>
          <a:noFill/>
        </p:spPr>
        <p:txBody>
          <a:bodyPr wrap="square" anchor="t" lIns="0" rIns="0" tIns="0" bIns="0">
            <a:spAutoFit/>
          </a:bodyPr>
          <a:lstStyle/>
          <a:p>
            <a:pPr>
              <a:lnSpc>
                <a:spcPct val="105000"/>
              </a:lnSpc>
              <a:spcBef>
                <a:spcPts val="0"/>
              </a:spcBef>
              <a:spcAft>
                <a:spcPts val="400"/>
              </a:spcAft>
            </a:pPr>
            <a:r>
              <a:rPr sz="1100" b="0" i="0">
                <a:solidFill>
                  <a:srgbClr val="8595A3"/>
                </a:solidFill>
                <a:latin typeface="Segoe UI"/>
              </a:rPr>
              <a:t>AUC nội bộ tại combo tốt nhất — BM1</a:t>
            </a:r>
          </a:p>
        </p:txBody>
      </p:sp>
      <p:sp>
        <p:nvSpPr>
          <p:cNvPr id="23" name="Rectangle 22"/>
          <p:cNvSpPr/>
          <p:nvPr/>
        </p:nvSpPr>
        <p:spPr>
          <a:xfrm>
            <a:off x="822960" y="5806440"/>
            <a:ext cx="10543032" cy="74980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5806440"/>
            <a:ext cx="54864" cy="749808"/>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916168"/>
            <a:ext cx="10177272" cy="566928"/>
          </a:xfrm>
          <a:prstGeom prst="rect">
            <a:avLst/>
          </a:prstGeom>
          <a:noFill/>
        </p:spPr>
        <p:txBody>
          <a:bodyPr wrap="square" anchor="ctr" lIns="0" rIns="0" tIns="0" bIns="0">
            <a:spAutoFit/>
          </a:bodyPr>
          <a:lstStyle/>
          <a:p>
            <a:pPr>
              <a:lnSpc>
                <a:spcPct val="108000"/>
              </a:lnSpc>
              <a:spcBef>
                <a:spcPts val="0"/>
              </a:spcBef>
              <a:spcAft>
                <a:spcPts val="400"/>
              </a:spcAft>
            </a:pPr>
            <a:r>
              <a:rPr sz="1050" b="1" i="0" spc="120">
                <a:solidFill>
                  <a:srgbClr val="1F6F83"/>
                </a:solidFill>
                <a:latin typeface="Segoe UI"/>
              </a:rPr>
              <a:t>KẾT LUẬN   </a:t>
            </a:r>
            <a:r>
              <a:rPr sz="1300" b="0" i="0">
                <a:solidFill>
                  <a:srgbClr val="16212B"/>
                </a:solidFill>
                <a:latin typeface="Segoe UI"/>
              </a:rPr>
              <a:t>Attention học không đóng góp — nó tái lập phép chia đều 1/Σmask. Càng nhiều nguồn, baseline càng vượt.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40">
                <a:solidFill>
                  <a:srgbClr val="1F6F83"/>
                </a:solidFill>
                <a:latin typeface="Segoe UI"/>
              </a:rPr>
              <a:t>TỔNG QUAN — 3 MÔ HÌNH FUSION</a:t>
            </a:r>
          </a:p>
        </p:txBody>
      </p:sp>
      <p:sp>
        <p:nvSpPr>
          <p:cNvPr id="4" name="TextBox 3"/>
          <p:cNvSpPr txBox="1"/>
          <p:nvPr/>
        </p:nvSpPr>
        <p:spPr>
          <a:xfrm>
            <a:off x="822960" y="932688"/>
            <a:ext cx="10515600" cy="1280160"/>
          </a:xfrm>
          <a:prstGeom prst="rect">
            <a:avLst/>
          </a:prstGeom>
          <a:noFill/>
        </p:spPr>
        <p:txBody>
          <a:bodyPr wrap="square" anchor="t" lIns="0" rIns="0" tIns="0" bIns="0">
            <a:spAutoFit/>
          </a:bodyPr>
          <a:lstStyle/>
          <a:p>
            <a:pPr>
              <a:lnSpc>
                <a:spcPct val="102000"/>
              </a:lnSpc>
              <a:spcBef>
                <a:spcPts val="0"/>
              </a:spcBef>
              <a:spcAft>
                <a:spcPts val="400"/>
              </a:spcAft>
            </a:pPr>
            <a:r>
              <a:rPr sz="2500" b="1" i="0">
                <a:solidFill>
                  <a:srgbClr val="16212B"/>
                </a:solidFill>
                <a:latin typeface="Segoe UI"/>
              </a:rPr>
              <a:t>uniform_avg · DyAM · OvO — nhìn tổng thể</a:t>
            </a:r>
          </a:p>
        </p:txBody>
      </p:sp>
      <p:graphicFrame>
        <p:nvGraphicFramePr>
          <p:cNvPr id="5" name="Table 4"/>
          <p:cNvGraphicFramePr>
            <a:graphicFrameLocks noGrp="1"/>
          </p:cNvGraphicFramePr>
          <p:nvPr/>
        </p:nvGraphicFramePr>
        <p:xfrm>
          <a:off x="749808" y="1783080"/>
          <a:ext cx="10661904" cy="2212848"/>
        </p:xfrm>
        <a:graphic>
          <a:graphicData uri="http://schemas.openxmlformats.org/drawingml/2006/table">
            <a:tbl>
              <a:tblPr firstRow="0" bandRow="0">
                <a:tableStyleId>{5C22544A-7EE6-4342-B048-85BDC9FD1C3A}</a:tableStyleId>
              </a:tblPr>
              <a:tblGrid>
                <a:gridCol w="3364992"/>
                <a:gridCol w="1216152"/>
                <a:gridCol w="1216152"/>
                <a:gridCol w="1216152"/>
                <a:gridCol w="1216152"/>
                <a:gridCol w="1216152"/>
                <a:gridCol w="1216152"/>
              </a:tblGrid>
              <a:tr h="384048">
                <a:tc>
                  <a:txBody>
                    <a:bodyPr/>
                    <a:lstStyle/>
                    <a:p>
                      <a:pPr algn="l"/>
                      <a:r>
                        <a:rPr sz="1000" b="1" i="0" spc="40">
                          <a:solidFill>
                            <a:srgbClr val="586878"/>
                          </a:solidFill>
                          <a:latin typeface="Segoe UI"/>
                        </a:rPr>
                        <a:t>TỔ HỢP</a:t>
                      </a:r>
                    </a:p>
                  </a:txBody>
                  <a:tcPr marL="73152" marR="73152" marT="18288" marB="18288" anchor="ctr">
                    <a:solidFill>
                      <a:srgbClr val="F4F6F8"/>
                    </a:solidFill>
                  </a:tcPr>
                </a:tc>
                <a:tc>
                  <a:txBody>
                    <a:bodyPr/>
                    <a:lstStyle/>
                    <a:p>
                      <a:pPr algn="r"/>
                      <a:r>
                        <a:rPr sz="1000" b="1" i="0" spc="40">
                          <a:solidFill>
                            <a:srgbClr val="586878"/>
                          </a:solidFill>
                          <a:latin typeface="Segoe UI"/>
                        </a:rPr>
                        <a:t>UNI</a:t>
                      </a:r>
                    </a:p>
                  </a:txBody>
                  <a:tcPr marL="73152" marR="73152" marT="18288" marB="18288" anchor="ctr">
                    <a:solidFill>
                      <a:srgbClr val="F4F6F8"/>
                    </a:solidFill>
                  </a:tcPr>
                </a:tc>
                <a:tc>
                  <a:txBody>
                    <a:bodyPr/>
                    <a:lstStyle/>
                    <a:p>
                      <a:pPr algn="r"/>
                      <a:r>
                        <a:rPr sz="1000" b="1" i="0" spc="40">
                          <a:solidFill>
                            <a:srgbClr val="586878"/>
                          </a:solidFill>
                          <a:latin typeface="Segoe UI"/>
                        </a:rPr>
                        <a:t>DYAM</a:t>
                      </a:r>
                    </a:p>
                  </a:txBody>
                  <a:tcPr marL="73152" marR="73152" marT="18288" marB="18288" anchor="ctr">
                    <a:solidFill>
                      <a:srgbClr val="F4F6F8"/>
                    </a:solidFill>
                  </a:tcPr>
                </a:tc>
                <a:tc>
                  <a:txBody>
                    <a:bodyPr/>
                    <a:lstStyle/>
                    <a:p>
                      <a:pPr algn="r"/>
                      <a:r>
                        <a:rPr sz="1000" b="1" i="0" spc="40">
                          <a:solidFill>
                            <a:srgbClr val="586878"/>
                          </a:solidFill>
                          <a:latin typeface="Segoe UI"/>
                        </a:rPr>
                        <a:t>OVO</a:t>
                      </a:r>
                    </a:p>
                  </a:txBody>
                  <a:tcPr marL="73152" marR="73152" marT="18288" marB="18288" anchor="ctr">
                    <a:solidFill>
                      <a:srgbClr val="F4F6F8"/>
                    </a:solidFill>
                  </a:tcPr>
                </a:tc>
                <a:tc>
                  <a:txBody>
                    <a:bodyPr/>
                    <a:lstStyle/>
                    <a:p>
                      <a:pPr algn="r"/>
                      <a:r>
                        <a:rPr sz="1000" b="1" i="0" spc="40">
                          <a:solidFill>
                            <a:srgbClr val="586878"/>
                          </a:solidFill>
                          <a:latin typeface="Segoe UI"/>
                        </a:rPr>
                        <a:t>UNI¹</a:t>
                      </a:r>
                    </a:p>
                  </a:txBody>
                  <a:tcPr marL="73152" marR="73152" marT="18288" marB="18288" anchor="ctr">
                    <a:solidFill>
                      <a:srgbClr val="F4F6F8"/>
                    </a:solidFill>
                  </a:tcPr>
                </a:tc>
                <a:tc>
                  <a:txBody>
                    <a:bodyPr/>
                    <a:lstStyle/>
                    <a:p>
                      <a:pPr algn="r"/>
                      <a:r>
                        <a:rPr sz="1000" b="1" i="0" spc="40">
                          <a:solidFill>
                            <a:srgbClr val="586878"/>
                          </a:solidFill>
                          <a:latin typeface="Segoe UI"/>
                        </a:rPr>
                        <a:t>DYAM¹</a:t>
                      </a:r>
                    </a:p>
                  </a:txBody>
                  <a:tcPr marL="73152" marR="73152" marT="18288" marB="18288" anchor="ctr">
                    <a:solidFill>
                      <a:srgbClr val="F4F6F8"/>
                    </a:solidFill>
                  </a:tcPr>
                </a:tc>
                <a:tc>
                  <a:txBody>
                    <a:bodyPr/>
                    <a:lstStyle/>
                    <a:p>
                      <a:pPr algn="r"/>
                      <a:r>
                        <a:rPr sz="1000" b="1" i="0" spc="40">
                          <a:solidFill>
                            <a:srgbClr val="586878"/>
                          </a:solidFill>
                          <a:latin typeface="Segoe UI"/>
                        </a:rPr>
                        <a:t>OVO¹</a:t>
                      </a:r>
                    </a:p>
                  </a:txBody>
                  <a:tcPr marL="73152" marR="73152" marT="18288" marB="18288" anchor="ctr">
                    <a:solidFill>
                      <a:srgbClr val="F4F6F8"/>
                    </a:solidFill>
                  </a:tcPr>
                </a:tc>
              </a:tr>
              <a:tr h="457200">
                <a:tc>
                  <a:txBody>
                    <a:bodyPr/>
                    <a:lstStyle/>
                    <a:p>
                      <a:pPr algn="l"/>
                      <a:r>
                        <a:rPr sz="1200" b="0" i="0">
                          <a:solidFill>
                            <a:srgbClr val="16212B"/>
                          </a:solidFill>
                          <a:latin typeface="Segoe UI"/>
                        </a:rPr>
                        <a:t>BM4 · PDL1+Gen</a:t>
                      </a:r>
                    </a:p>
                  </a:txBody>
                  <a:tcPr marL="73152" marR="73152" marT="9144" marB="9144" anchor="ctr">
                    <a:solidFill>
                      <a:srgbClr val="FFFFFF"/>
                    </a:solidFill>
                  </a:tcPr>
                </a:tc>
                <a:tc>
                  <a:txBody>
                    <a:bodyPr/>
                    <a:lstStyle/>
                    <a:p>
                      <a:pPr algn="r"/>
                      <a:r>
                        <a:rPr sz="1200" b="1" i="0">
                          <a:solidFill>
                            <a:srgbClr val="1F6F83"/>
                          </a:solidFill>
                          <a:latin typeface="Segoe UI"/>
                        </a:rPr>
                        <a:t>0.7191</a:t>
                      </a:r>
                    </a:p>
                  </a:txBody>
                  <a:tcPr marL="73152" marR="73152" marT="9144" marB="9144" anchor="ctr">
                    <a:solidFill>
                      <a:srgbClr val="FFFFFF"/>
                    </a:solidFill>
                  </a:tcPr>
                </a:tc>
                <a:tc>
                  <a:txBody>
                    <a:bodyPr/>
                    <a:lstStyle/>
                    <a:p>
                      <a:pPr algn="r"/>
                      <a:r>
                        <a:rPr sz="1200" b="0" i="0">
                          <a:solidFill>
                            <a:srgbClr val="16212B"/>
                          </a:solidFill>
                          <a:latin typeface="Segoe UI"/>
                        </a:rPr>
                        <a:t>0.7072</a:t>
                      </a:r>
                    </a:p>
                  </a:txBody>
                  <a:tcPr marL="73152" marR="73152" marT="9144" marB="9144" anchor="ctr">
                    <a:solidFill>
                      <a:srgbClr val="FFFFFF"/>
                    </a:solidFill>
                  </a:tcPr>
                </a:tc>
                <a:tc>
                  <a:txBody>
                    <a:bodyPr/>
                    <a:lstStyle/>
                    <a:p>
                      <a:pPr algn="r"/>
                      <a:r>
                        <a:rPr sz="1200" b="0" i="0">
                          <a:solidFill>
                            <a:srgbClr val="16212B"/>
                          </a:solidFill>
                          <a:latin typeface="Segoe UI"/>
                        </a:rPr>
                        <a:t>0.7183</a:t>
                      </a:r>
                    </a:p>
                  </a:txBody>
                  <a:tcPr marL="73152" marR="73152" marT="9144" marB="9144" anchor="ctr">
                    <a:solidFill>
                      <a:srgbClr val="FFFFFF"/>
                    </a:solidFill>
                  </a:tcPr>
                </a:tc>
                <a:tc>
                  <a:txBody>
                    <a:bodyPr/>
                    <a:lstStyle/>
                    <a:p>
                      <a:pPr algn="r"/>
                      <a:r>
                        <a:rPr sz="1200" b="0" i="0">
                          <a:solidFill>
                            <a:srgbClr val="16212B"/>
                          </a:solidFill>
                          <a:latin typeface="Segoe UI"/>
                        </a:rPr>
                        <a:t>0.7124</a:t>
                      </a:r>
                    </a:p>
                  </a:txBody>
                  <a:tcPr marL="73152" marR="73152" marT="9144" marB="9144" anchor="ctr">
                    <a:solidFill>
                      <a:srgbClr val="FFFFFF"/>
                    </a:solidFill>
                  </a:tcPr>
                </a:tc>
                <a:tc>
                  <a:txBody>
                    <a:bodyPr/>
                    <a:lstStyle/>
                    <a:p>
                      <a:pPr algn="r"/>
                      <a:r>
                        <a:rPr sz="1200" b="0" i="0">
                          <a:solidFill>
                            <a:srgbClr val="16212B"/>
                          </a:solidFill>
                          <a:latin typeface="Segoe UI"/>
                        </a:rPr>
                        <a:t>0.6932</a:t>
                      </a:r>
                    </a:p>
                  </a:txBody>
                  <a:tcPr marL="73152" marR="73152" marT="9144" marB="9144" anchor="ctr">
                    <a:solidFill>
                      <a:srgbClr val="FFFFFF"/>
                    </a:solidFill>
                  </a:tcPr>
                </a:tc>
                <a:tc>
                  <a:txBody>
                    <a:bodyPr/>
                    <a:lstStyle/>
                    <a:p>
                      <a:pPr algn="r"/>
                      <a:r>
                        <a:rPr sz="1200" b="1" i="0">
                          <a:solidFill>
                            <a:srgbClr val="1F6F83"/>
                          </a:solidFill>
                          <a:latin typeface="Segoe UI"/>
                        </a:rPr>
                        <a:t>0.7157</a:t>
                      </a:r>
                    </a:p>
                  </a:txBody>
                  <a:tcPr marL="73152" marR="73152" marT="9144" marB="9144" anchor="ctr">
                    <a:solidFill>
                      <a:srgbClr val="FFFFFF"/>
                    </a:solidFill>
                  </a:tcPr>
                </a:tc>
              </a:tr>
              <a:tr h="457200">
                <a:tc>
                  <a:txBody>
                    <a:bodyPr/>
                    <a:lstStyle/>
                    <a:p>
                      <a:pPr algn="l"/>
                      <a:r>
                        <a:rPr sz="1200" b="0" i="0">
                          <a:solidFill>
                            <a:srgbClr val="16212B"/>
                          </a:solidFill>
                          <a:latin typeface="Segoe UI"/>
                        </a:rPr>
                        <a:t>BM3 · Rad+Gen</a:t>
                      </a:r>
                    </a:p>
                  </a:txBody>
                  <a:tcPr marL="73152" marR="73152" marT="9144" marB="9144" anchor="ctr">
                    <a:solidFill>
                      <a:srgbClr val="FFFFFF"/>
                    </a:solidFill>
                  </a:tcPr>
                </a:tc>
                <a:tc>
                  <a:txBody>
                    <a:bodyPr/>
                    <a:lstStyle/>
                    <a:p>
                      <a:pPr algn="r"/>
                      <a:r>
                        <a:rPr sz="1200" b="0" i="0">
                          <a:solidFill>
                            <a:srgbClr val="16212B"/>
                          </a:solidFill>
                          <a:latin typeface="Segoe UI"/>
                        </a:rPr>
                        <a:t>0.7110</a:t>
                      </a:r>
                    </a:p>
                  </a:txBody>
                  <a:tcPr marL="73152" marR="73152" marT="9144" marB="9144" anchor="ctr">
                    <a:solidFill>
                      <a:srgbClr val="FFFFFF"/>
                    </a:solidFill>
                  </a:tcPr>
                </a:tc>
                <a:tc>
                  <a:txBody>
                    <a:bodyPr/>
                    <a:lstStyle/>
                    <a:p>
                      <a:pPr algn="r"/>
                      <a:r>
                        <a:rPr sz="1200" b="0" i="0">
                          <a:solidFill>
                            <a:srgbClr val="16212B"/>
                          </a:solidFill>
                          <a:latin typeface="Segoe UI"/>
                        </a:rPr>
                        <a:t>0.7095</a:t>
                      </a:r>
                    </a:p>
                  </a:txBody>
                  <a:tcPr marL="73152" marR="73152" marT="9144" marB="9144" anchor="ctr">
                    <a:solidFill>
                      <a:srgbClr val="FFFFFF"/>
                    </a:solidFill>
                  </a:tcPr>
                </a:tc>
                <a:tc>
                  <a:txBody>
                    <a:bodyPr/>
                    <a:lstStyle/>
                    <a:p>
                      <a:pPr algn="r"/>
                      <a:r>
                        <a:rPr sz="1200" b="1" i="0">
                          <a:solidFill>
                            <a:srgbClr val="1F6F83"/>
                          </a:solidFill>
                          <a:latin typeface="Segoe UI"/>
                        </a:rPr>
                        <a:t>0.7132</a:t>
                      </a:r>
                    </a:p>
                  </a:txBody>
                  <a:tcPr marL="73152" marR="73152" marT="9144" marB="9144" anchor="ctr">
                    <a:solidFill>
                      <a:srgbClr val="FFFFFF"/>
                    </a:solidFill>
                  </a:tcPr>
                </a:tc>
                <a:tc>
                  <a:txBody>
                    <a:bodyPr/>
                    <a:lstStyle/>
                    <a:p>
                      <a:pPr algn="r"/>
                      <a:r>
                        <a:rPr sz="1200" b="0" i="0">
                          <a:solidFill>
                            <a:srgbClr val="16212B"/>
                          </a:solidFill>
                          <a:latin typeface="Segoe UI"/>
                        </a:rPr>
                        <a:t>0.7472</a:t>
                      </a:r>
                    </a:p>
                  </a:txBody>
                  <a:tcPr marL="73152" marR="73152" marT="9144" marB="9144" anchor="ctr">
                    <a:solidFill>
                      <a:srgbClr val="FFFFFF"/>
                    </a:solidFill>
                  </a:tcPr>
                </a:tc>
                <a:tc>
                  <a:txBody>
                    <a:bodyPr/>
                    <a:lstStyle/>
                    <a:p>
                      <a:pPr algn="r"/>
                      <a:r>
                        <a:rPr sz="1200" b="1" i="0">
                          <a:solidFill>
                            <a:srgbClr val="1F6F83"/>
                          </a:solidFill>
                          <a:latin typeface="Segoe UI"/>
                        </a:rPr>
                        <a:t>0.7549</a:t>
                      </a:r>
                    </a:p>
                  </a:txBody>
                  <a:tcPr marL="73152" marR="73152" marT="9144" marB="9144" anchor="ctr">
                    <a:solidFill>
                      <a:srgbClr val="FFFFFF"/>
                    </a:solidFill>
                  </a:tcPr>
                </a:tc>
                <a:tc>
                  <a:txBody>
                    <a:bodyPr/>
                    <a:lstStyle/>
                    <a:p>
                      <a:pPr algn="r"/>
                      <a:r>
                        <a:rPr sz="1200" b="0" i="0">
                          <a:solidFill>
                            <a:srgbClr val="16212B"/>
                          </a:solidFill>
                          <a:latin typeface="Segoe UI"/>
                        </a:rPr>
                        <a:t>0.7511</a:t>
                      </a:r>
                    </a:p>
                  </a:txBody>
                  <a:tcPr marL="73152" marR="73152" marT="9144" marB="9144" anchor="ctr">
                    <a:solidFill>
                      <a:srgbClr val="FFFFFF"/>
                    </a:solidFill>
                  </a:tcPr>
                </a:tc>
              </a:tr>
              <a:tr h="457200">
                <a:tc>
                  <a:txBody>
                    <a:bodyPr/>
                    <a:lstStyle/>
                    <a:p>
                      <a:pPr algn="l"/>
                      <a:r>
                        <a:rPr sz="1200" b="0" i="0">
                          <a:solidFill>
                            <a:srgbClr val="16212B"/>
                          </a:solidFill>
                          <a:latin typeface="Segoe UI"/>
                        </a:rPr>
                        <a:t>BM1 · Rad+Path+Gen+PDL1</a:t>
                      </a:r>
                    </a:p>
                  </a:txBody>
                  <a:tcPr marL="73152" marR="73152" marT="9144" marB="9144" anchor="ctr">
                    <a:solidFill>
                      <a:srgbClr val="FFFFFF"/>
                    </a:solidFill>
                  </a:tcPr>
                </a:tc>
                <a:tc>
                  <a:txBody>
                    <a:bodyPr/>
                    <a:lstStyle/>
                    <a:p>
                      <a:pPr algn="r"/>
                      <a:r>
                        <a:rPr sz="1200" b="1" i="0">
                          <a:solidFill>
                            <a:srgbClr val="1F6F83"/>
                          </a:solidFill>
                          <a:latin typeface="Segoe UI"/>
                        </a:rPr>
                        <a:t>0.7746</a:t>
                      </a:r>
                    </a:p>
                  </a:txBody>
                  <a:tcPr marL="73152" marR="73152" marT="9144" marB="9144" anchor="ctr">
                    <a:solidFill>
                      <a:srgbClr val="FFFFFF"/>
                    </a:solidFill>
                  </a:tcPr>
                </a:tc>
                <a:tc>
                  <a:txBody>
                    <a:bodyPr/>
                    <a:lstStyle/>
                    <a:p>
                      <a:pPr algn="r"/>
                      <a:r>
                        <a:rPr sz="1200" b="0" i="0">
                          <a:solidFill>
                            <a:srgbClr val="16212B"/>
                          </a:solidFill>
                          <a:latin typeface="Segoe UI"/>
                        </a:rPr>
                        <a:t>0.7595</a:t>
                      </a:r>
                    </a:p>
                  </a:txBody>
                  <a:tcPr marL="73152" marR="73152" marT="9144" marB="9144" anchor="ctr">
                    <a:solidFill>
                      <a:srgbClr val="FFFFFF"/>
                    </a:solidFill>
                  </a:tcPr>
                </a:tc>
                <a:tc>
                  <a:txBody>
                    <a:bodyPr/>
                    <a:lstStyle/>
                    <a:p>
                      <a:pPr algn="r"/>
                      <a:r>
                        <a:rPr sz="1200" b="0" i="0">
                          <a:solidFill>
                            <a:srgbClr val="16212B"/>
                          </a:solidFill>
                          <a:latin typeface="Segoe UI"/>
                        </a:rPr>
                        <a:t>0.7728</a:t>
                      </a:r>
                    </a:p>
                  </a:txBody>
                  <a:tcPr marL="73152" marR="73152" marT="9144" marB="9144" anchor="ctr">
                    <a:solidFill>
                      <a:srgbClr val="FFFFFF"/>
                    </a:solidFill>
                  </a:tcPr>
                </a:tc>
                <a:tc>
                  <a:txBody>
                    <a:bodyPr/>
                    <a:lstStyle/>
                    <a:p>
                      <a:pPr algn="r"/>
                      <a:r>
                        <a:rPr sz="1200" b="0" i="0">
                          <a:solidFill>
                            <a:srgbClr val="16212B"/>
                          </a:solidFill>
                          <a:latin typeface="Segoe UI"/>
                        </a:rPr>
                        <a:t>0.7915</a:t>
                      </a:r>
                    </a:p>
                  </a:txBody>
                  <a:tcPr marL="73152" marR="73152" marT="9144" marB="9144" anchor="ctr">
                    <a:solidFill>
                      <a:srgbClr val="FFFFFF"/>
                    </a:solidFill>
                  </a:tcPr>
                </a:tc>
                <a:tc>
                  <a:txBody>
                    <a:bodyPr/>
                    <a:lstStyle/>
                    <a:p>
                      <a:pPr algn="r"/>
                      <a:r>
                        <a:rPr sz="1200" b="1" i="0">
                          <a:solidFill>
                            <a:srgbClr val="1F6F83"/>
                          </a:solidFill>
                          <a:latin typeface="Segoe UI"/>
                        </a:rPr>
                        <a:t>0.7976</a:t>
                      </a:r>
                    </a:p>
                  </a:txBody>
                  <a:tcPr marL="73152" marR="73152" marT="9144" marB="9144" anchor="ctr">
                    <a:solidFill>
                      <a:srgbClr val="FFFFFF"/>
                    </a:solidFill>
                  </a:tcPr>
                </a:tc>
                <a:tc>
                  <a:txBody>
                    <a:bodyPr/>
                    <a:lstStyle/>
                    <a:p>
                      <a:pPr algn="r"/>
                      <a:r>
                        <a:rPr sz="1200" b="0" i="0">
                          <a:solidFill>
                            <a:srgbClr val="16212B"/>
                          </a:solidFill>
                          <a:latin typeface="Segoe UI"/>
                        </a:rPr>
                        <a:t>0.7975</a:t>
                      </a:r>
                    </a:p>
                  </a:txBody>
                  <a:tcPr marL="73152" marR="73152" marT="9144" marB="9144" anchor="ctr">
                    <a:solidFill>
                      <a:srgbClr val="FFFFFF"/>
                    </a:solidFill>
                  </a:tcPr>
                </a:tc>
              </a:tr>
              <a:tr h="457200">
                <a:tc>
                  <a:txBody>
                    <a:bodyPr/>
                    <a:lstStyle/>
                    <a:p>
                      <a:pPr algn="l"/>
                      <a:r>
                        <a:rPr sz="1200" b="0" i="0">
                          <a:solidFill>
                            <a:srgbClr val="16212B"/>
                          </a:solidFill>
                          <a:latin typeface="Segoe UI"/>
                        </a:rPr>
                        <a:t>BM2 · +Labs</a:t>
                      </a:r>
                    </a:p>
                  </a:txBody>
                  <a:tcPr marL="73152" marR="73152" marT="9144" marB="9144" anchor="ctr">
                    <a:solidFill>
                      <a:srgbClr val="FFFFFF"/>
                    </a:solidFill>
                  </a:tcPr>
                </a:tc>
                <a:tc>
                  <a:txBody>
                    <a:bodyPr/>
                    <a:lstStyle/>
                    <a:p>
                      <a:pPr algn="r"/>
                      <a:r>
                        <a:rPr sz="1200" b="1" i="0">
                          <a:solidFill>
                            <a:srgbClr val="1F6F83"/>
                          </a:solidFill>
                          <a:latin typeface="Segoe UI"/>
                        </a:rPr>
                        <a:t>0.7665</a:t>
                      </a:r>
                    </a:p>
                  </a:txBody>
                  <a:tcPr marL="73152" marR="73152" marT="9144" marB="9144" anchor="ctr">
                    <a:solidFill>
                      <a:srgbClr val="FFFFFF"/>
                    </a:solidFill>
                  </a:tcPr>
                </a:tc>
                <a:tc>
                  <a:txBody>
                    <a:bodyPr/>
                    <a:lstStyle/>
                    <a:p>
                      <a:pPr algn="r"/>
                      <a:r>
                        <a:rPr sz="1200" b="0" i="0">
                          <a:solidFill>
                            <a:srgbClr val="16212B"/>
                          </a:solidFill>
                          <a:latin typeface="Segoe UI"/>
                        </a:rPr>
                        <a:t>0.7638</a:t>
                      </a:r>
                    </a:p>
                  </a:txBody>
                  <a:tcPr marL="73152" marR="73152" marT="9144" marB="9144" anchor="ctr">
                    <a:solidFill>
                      <a:srgbClr val="FFFFFF"/>
                    </a:solidFill>
                  </a:tcPr>
                </a:tc>
                <a:tc>
                  <a:txBody>
                    <a:bodyPr/>
                    <a:lstStyle/>
                    <a:p>
                      <a:pPr algn="r"/>
                      <a:r>
                        <a:rPr sz="1200" b="0" i="0">
                          <a:solidFill>
                            <a:srgbClr val="16212B"/>
                          </a:solidFill>
                          <a:latin typeface="Segoe UI"/>
                        </a:rPr>
                        <a:t>0.7632</a:t>
                      </a:r>
                    </a:p>
                  </a:txBody>
                  <a:tcPr marL="73152" marR="73152" marT="9144" marB="9144" anchor="ctr">
                    <a:solidFill>
                      <a:srgbClr val="FFFFFF"/>
                    </a:solidFill>
                  </a:tcPr>
                </a:tc>
                <a:tc>
                  <a:txBody>
                    <a:bodyPr/>
                    <a:lstStyle/>
                    <a:p>
                      <a:pPr algn="r"/>
                      <a:r>
                        <a:rPr sz="1200" b="0" i="0">
                          <a:solidFill>
                            <a:srgbClr val="16212B"/>
                          </a:solidFill>
                          <a:latin typeface="Segoe UI"/>
                        </a:rPr>
                        <a:t>0.7784</a:t>
                      </a:r>
                    </a:p>
                  </a:txBody>
                  <a:tcPr marL="73152" marR="73152" marT="9144" marB="9144" anchor="ctr">
                    <a:solidFill>
                      <a:srgbClr val="FFFFFF"/>
                    </a:solidFill>
                  </a:tcPr>
                </a:tc>
                <a:tc>
                  <a:txBody>
                    <a:bodyPr/>
                    <a:lstStyle/>
                    <a:p>
                      <a:pPr algn="r"/>
                      <a:r>
                        <a:rPr sz="1200" b="1" i="0">
                          <a:solidFill>
                            <a:srgbClr val="1F6F83"/>
                          </a:solidFill>
                          <a:latin typeface="Segoe UI"/>
                        </a:rPr>
                        <a:t>0.7908</a:t>
                      </a:r>
                    </a:p>
                  </a:txBody>
                  <a:tcPr marL="73152" marR="73152" marT="9144" marB="9144" anchor="ctr">
                    <a:solidFill>
                      <a:srgbClr val="FFFFFF"/>
                    </a:solidFill>
                  </a:tcPr>
                </a:tc>
                <a:tc>
                  <a:txBody>
                    <a:bodyPr/>
                    <a:lstStyle/>
                    <a:p>
                      <a:pPr algn="r"/>
                      <a:r>
                        <a:rPr sz="1200" b="0" i="0">
                          <a:solidFill>
                            <a:srgbClr val="16212B"/>
                          </a:solidFill>
                          <a:latin typeface="Segoe UI"/>
                        </a:rPr>
                        <a:t>0.7780</a:t>
                      </a:r>
                    </a:p>
                  </a:txBody>
                  <a:tcPr marL="73152" marR="73152" marT="9144" marB="9144" anchor="ctr">
                    <a:solidFill>
                      <a:srgbClr val="FFFFFF"/>
                    </a:solidFill>
                  </a:tcPr>
                </a:tc>
              </a:tr>
            </a:tbl>
          </a:graphicData>
        </a:graphic>
      </p:graphicFrame>
      <p:sp>
        <p:nvSpPr>
          <p:cNvPr id="6" name="TextBox 5"/>
          <p:cNvSpPr txBox="1"/>
          <p:nvPr/>
        </p:nvSpPr>
        <p:spPr>
          <a:xfrm>
            <a:off x="749808" y="4114800"/>
            <a:ext cx="10680192" cy="320040"/>
          </a:xfrm>
          <a:prstGeom prst="rect">
            <a:avLst/>
          </a:prstGeom>
          <a:noFill/>
        </p:spPr>
        <p:txBody>
          <a:bodyPr wrap="square" anchor="t" lIns="0" rIns="0" tIns="0" bIns="0">
            <a:spAutoFit/>
          </a:bodyPr>
          <a:lstStyle/>
          <a:p>
            <a:pPr>
              <a:lnSpc>
                <a:spcPct val="105000"/>
              </a:lnSpc>
              <a:spcBef>
                <a:spcPts val="0"/>
              </a:spcBef>
              <a:spcAft>
                <a:spcPts val="400"/>
              </a:spcAft>
            </a:pPr>
            <a:r>
              <a:rPr sz="1050" b="0" i="0">
                <a:solidFill>
                  <a:srgbClr val="8595A3"/>
                </a:solidFill>
                <a:latin typeface="Segoe UI"/>
              </a:rPr>
              <a:t>Cột 1–3: 5-seed robust  ·  Cột 4–6 (¹): single-run kiểu bài báo  ·  in đậm xanh = cao nhất mỗi nhóm/hàng</a:t>
            </a:r>
          </a:p>
        </p:txBody>
      </p:sp>
      <p:sp>
        <p:nvSpPr>
          <p:cNvPr id="7" name="TextBox 6"/>
          <p:cNvSpPr txBox="1"/>
          <p:nvPr/>
        </p:nvSpPr>
        <p:spPr>
          <a:xfrm>
            <a:off x="914400" y="4572000"/>
            <a:ext cx="10332720" cy="1188720"/>
          </a:xfrm>
          <a:prstGeom prst="rect">
            <a:avLst/>
          </a:prstGeom>
          <a:noFill/>
        </p:spPr>
        <p:txBody>
          <a:bodyPr wrap="square" anchor="t" lIns="0" rIns="0" tIns="0" bIns="0">
            <a:spAutoFit/>
          </a:bodyPr>
          <a:lstStyle/>
          <a:p>
            <a:pPr>
              <a:lnSpc>
                <a:spcPct val="112000"/>
              </a:lnSpc>
              <a:spcBef>
                <a:spcPts val="0"/>
              </a:spcBef>
              <a:spcAft>
                <a:spcPts val="500"/>
              </a:spcAft>
            </a:pPr>
            <a:r>
              <a:rPr sz="1300" b="1" i="0">
                <a:solidFill>
                  <a:srgbClr val="1F6F83"/>
                </a:solidFill>
                <a:latin typeface="Segoe UI"/>
              </a:rPr>
              <a:t>•  </a:t>
            </a:r>
            <a:r>
              <a:rPr sz="1300" b="1" i="0">
                <a:solidFill>
                  <a:srgbClr val="16212B"/>
                </a:solidFill>
                <a:latin typeface="Segoe UI"/>
              </a:rPr>
              <a:t>OvO ≈ uniform_avg</a:t>
            </a:r>
            <a:r>
              <a:rPr sz="1300" b="0" i="0">
                <a:solidFill>
                  <a:srgbClr val="16212B"/>
                </a:solidFill>
                <a:latin typeface="Segoe UI"/>
              </a:rPr>
              <a:t> (bám sát ±0.005); cả hai ≥ DyAM ở đánh giá 5-seed robust.</a:t>
            </a:r>
          </a:p>
          <a:p>
            <a:pPr>
              <a:lnSpc>
                <a:spcPct val="112000"/>
              </a:lnSpc>
              <a:spcBef>
                <a:spcPts val="0"/>
              </a:spcBef>
              <a:spcAft>
                <a:spcPts val="500"/>
              </a:spcAft>
            </a:pPr>
            <a:r>
              <a:rPr sz="1300" b="1" i="0">
                <a:solidFill>
                  <a:srgbClr val="1F6F83"/>
                </a:solidFill>
                <a:latin typeface="Segoe UI"/>
              </a:rPr>
              <a:t>•  </a:t>
            </a:r>
            <a:r>
              <a:rPr sz="1300" b="0" i="0">
                <a:solidFill>
                  <a:srgbClr val="16212B"/>
                </a:solidFill>
                <a:latin typeface="Segoe UI"/>
              </a:rPr>
              <a:t>Chênh giữa 3 mô hình chỉ ~0.01 — nằm trong nhiễu, phần lớn KHÔNG có ý nghĩa thống kê.</a:t>
            </a:r>
          </a:p>
          <a:p>
            <a:pPr>
              <a:lnSpc>
                <a:spcPct val="112000"/>
              </a:lnSpc>
              <a:spcBef>
                <a:spcPts val="0"/>
              </a:spcBef>
              <a:spcAft>
                <a:spcPts val="500"/>
              </a:spcAft>
            </a:pPr>
            <a:r>
              <a:rPr sz="1300" b="1" i="0">
                <a:solidFill>
                  <a:srgbClr val="1F6F83"/>
                </a:solidFill>
                <a:latin typeface="Segoe UI"/>
              </a:rPr>
              <a:t>•  </a:t>
            </a:r>
            <a:r>
              <a:rPr sz="1300" b="1" i="0">
                <a:solidFill>
                  <a:srgbClr val="16212B"/>
                </a:solidFill>
                <a:latin typeface="Segoe UI"/>
              </a:rPr>
              <a:t>Single-run (1 phân hoạch): DyAM/OvO đạt đỉnh ~0.79–0.80</a:t>
            </a:r>
            <a:r>
              <a:rPr sz="1300" b="0" i="0">
                <a:solidFill>
                  <a:srgbClr val="16212B"/>
                </a:solidFill>
                <a:latin typeface="Segoe UI"/>
              </a:rPr>
              <a:t> — đúng con số bài báo, nhưng là phân hoạch thuận lợi.</a:t>
            </a:r>
          </a:p>
        </p:txBody>
      </p:sp>
      <p:sp>
        <p:nvSpPr>
          <p:cNvPr id="8" name="Rectangle 7"/>
          <p:cNvSpPr/>
          <p:nvPr/>
        </p:nvSpPr>
        <p:spPr>
          <a:xfrm>
            <a:off x="822960" y="5806440"/>
            <a:ext cx="10543032" cy="74980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5806440"/>
            <a:ext cx="54864" cy="749808"/>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916168"/>
            <a:ext cx="10177272" cy="566928"/>
          </a:xfrm>
          <a:prstGeom prst="rect">
            <a:avLst/>
          </a:prstGeom>
          <a:noFill/>
        </p:spPr>
        <p:txBody>
          <a:bodyPr wrap="square" anchor="ctr" lIns="0" rIns="0" tIns="0" bIns="0">
            <a:spAutoFit/>
          </a:bodyPr>
          <a:lstStyle/>
          <a:p>
            <a:pPr>
              <a:lnSpc>
                <a:spcPct val="108000"/>
              </a:lnSpc>
              <a:spcBef>
                <a:spcPts val="0"/>
              </a:spcBef>
              <a:spcAft>
                <a:spcPts val="400"/>
              </a:spcAft>
            </a:pPr>
            <a:r>
              <a:rPr sz="1050" b="1" i="0" spc="120">
                <a:solidFill>
                  <a:srgbClr val="1F6F83"/>
                </a:solidFill>
                <a:latin typeface="Segoe UI"/>
              </a:rPr>
              <a:t>NHẬN ĐỊNH   </a:t>
            </a:r>
            <a:r>
              <a:rPr sz="1300" b="0" i="0">
                <a:solidFill>
                  <a:srgbClr val="16212B"/>
                </a:solidFill>
                <a:latin typeface="Segoe UI"/>
              </a:rPr>
              <a:t>Không mô hình attention nào (DyAM/OvO) vượt baseline uniform_avg một cách bền vững — ba mô hình tương đương trong nhiễu.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40">
                <a:solidFill>
                  <a:srgbClr val="8595A3"/>
                </a:solidFill>
                <a:latin typeface="Segoe UI"/>
              </a:rPr>
              <a:t>B · C  </a:t>
            </a:r>
            <a:r>
              <a:rPr sz="1200" b="1" i="0" spc="140">
                <a:solidFill>
                  <a:srgbClr val="1F6F83"/>
                </a:solidFill>
                <a:latin typeface="Segoe UI"/>
              </a:rPr>
              <a:t>STACKED FUSION &amp; RÀ SOÁT CẤU HÌNH</a:t>
            </a:r>
          </a:p>
        </p:txBody>
      </p:sp>
      <p:sp>
        <p:nvSpPr>
          <p:cNvPr id="4" name="TextBox 3"/>
          <p:cNvSpPr txBox="1"/>
          <p:nvPr/>
        </p:nvSpPr>
        <p:spPr>
          <a:xfrm>
            <a:off x="822960" y="932688"/>
            <a:ext cx="10515600" cy="1280160"/>
          </a:xfrm>
          <a:prstGeom prst="rect">
            <a:avLst/>
          </a:prstGeom>
          <a:noFill/>
        </p:spPr>
        <p:txBody>
          <a:bodyPr wrap="square" anchor="t" lIns="0" rIns="0" tIns="0" bIns="0">
            <a:spAutoFit/>
          </a:bodyPr>
          <a:lstStyle/>
          <a:p>
            <a:pPr>
              <a:lnSpc>
                <a:spcPct val="102000"/>
              </a:lnSpc>
              <a:spcBef>
                <a:spcPts val="0"/>
              </a:spcBef>
              <a:spcAft>
                <a:spcPts val="400"/>
              </a:spcAft>
            </a:pPr>
            <a:r>
              <a:rPr sz="2600" b="1" i="0">
                <a:solidFill>
                  <a:srgbClr val="16212B"/>
                </a:solidFill>
                <a:latin typeface="Segoe UI"/>
              </a:rPr>
              <a:t>Hai kiểm chứng phụ</a:t>
            </a:r>
          </a:p>
        </p:txBody>
      </p:sp>
      <p:sp>
        <p:nvSpPr>
          <p:cNvPr id="5" name="TextBox 4"/>
          <p:cNvSpPr txBox="1"/>
          <p:nvPr/>
        </p:nvSpPr>
        <p:spPr>
          <a:xfrm>
            <a:off x="822960" y="1737360"/>
            <a:ext cx="5120640" cy="457200"/>
          </a:xfrm>
          <a:prstGeom prst="rect">
            <a:avLst/>
          </a:prstGeom>
          <a:noFill/>
        </p:spPr>
        <p:txBody>
          <a:bodyPr wrap="square" anchor="t" lIns="0" rIns="0" tIns="0" bIns="0">
            <a:spAutoFit/>
          </a:bodyPr>
          <a:lstStyle/>
          <a:p>
            <a:pPr>
              <a:lnSpc>
                <a:spcPct val="105000"/>
              </a:lnSpc>
              <a:spcBef>
                <a:spcPts val="0"/>
              </a:spcBef>
              <a:spcAft>
                <a:spcPts val="400"/>
              </a:spcAft>
            </a:pPr>
            <a:r>
              <a:rPr sz="1600" b="1" i="0">
                <a:solidFill>
                  <a:srgbClr val="16212B"/>
                </a:solidFill>
                <a:latin typeface="Segoe UI"/>
              </a:rPr>
              <a:t>Stacked late-fusion</a:t>
            </a:r>
          </a:p>
        </p:txBody>
      </p:sp>
      <p:sp>
        <p:nvSpPr>
          <p:cNvPr id="6" name="Rounded Rectangle 5"/>
          <p:cNvSpPr/>
          <p:nvPr/>
        </p:nvSpPr>
        <p:spPr>
          <a:xfrm>
            <a:off x="822960" y="2286000"/>
            <a:ext cx="3191256" cy="310896"/>
          </a:xfrm>
          <a:prstGeom prst="roundRect">
            <a:avLst>
              <a:gd name="adj" fmla="val 8000"/>
            </a:avLst>
          </a:prstGeom>
          <a:solidFill>
            <a:srgbClr val="F5E7DF"/>
          </a:solidFill>
          <a:ln w="9525">
            <a:solidFill>
              <a:srgbClr val="B3603A"/>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150" b="1" i="0">
                <a:solidFill>
                  <a:srgbClr val="B3603A"/>
                </a:solidFill>
                <a:latin typeface="Segoe UI"/>
              </a:rPr>
              <a:t>Âm — không hơn baseline</a:t>
            </a:r>
          </a:p>
        </p:txBody>
      </p:sp>
      <p:sp>
        <p:nvSpPr>
          <p:cNvPr id="7" name="TextBox 6"/>
          <p:cNvSpPr txBox="1"/>
          <p:nvPr/>
        </p:nvSpPr>
        <p:spPr>
          <a:xfrm>
            <a:off x="822960" y="2788920"/>
            <a:ext cx="5120640" cy="2743200"/>
          </a:xfrm>
          <a:prstGeom prst="rect">
            <a:avLst/>
          </a:prstGeom>
          <a:noFill/>
        </p:spPr>
        <p:txBody>
          <a:bodyPr wrap="square" anchor="t" lIns="0" rIns="0" tIns="0" bIns="0">
            <a:spAutoFit/>
          </a:bodyPr>
          <a:lstStyle/>
          <a:p>
            <a:pPr>
              <a:lnSpc>
                <a:spcPct val="125000"/>
              </a:lnSpc>
              <a:spcBef>
                <a:spcPts val="0"/>
              </a:spcBef>
              <a:spcAft>
                <a:spcPts val="400"/>
              </a:spcAft>
            </a:pPr>
            <a:r>
              <a:rPr sz="1300" b="0" i="0">
                <a:solidFill>
                  <a:srgbClr val="16212B"/>
                </a:solidFill>
                <a:latin typeface="Segoe UI"/>
              </a:rPr>
              <a:t>Meta-learner học trọng số modality từ dự đoán out-of-fold. Kỳ vọng: tự hạ radiomics. </a:t>
            </a:r>
            <a:r>
              <a:rPr sz="1300" b="1" i="0">
                <a:solidFill>
                  <a:srgbClr val="B3603A"/>
                </a:solidFill>
                <a:latin typeface="Segoe UI"/>
              </a:rPr>
              <a:t>Thực tế ngược lại</a:t>
            </a:r>
            <a:r>
              <a:rPr sz="1300" b="0" i="0">
                <a:solidFill>
                  <a:srgbClr val="16212B"/>
                </a:solidFill>
                <a:latin typeface="Segoe UI"/>
              </a:rPr>
              <a:t> — meta đề cao radiomics (trọng số cao nhất) và bỏ pathology (≈0). Ngang uniform_avg (0.752 vs 0.775) nhưng diễn giải sai lệch.</a:t>
            </a:r>
          </a:p>
        </p:txBody>
      </p:sp>
      <p:sp>
        <p:nvSpPr>
          <p:cNvPr id="8" name="TextBox 7"/>
          <p:cNvSpPr txBox="1"/>
          <p:nvPr/>
        </p:nvSpPr>
        <p:spPr>
          <a:xfrm>
            <a:off x="6309360" y="1737360"/>
            <a:ext cx="5029200" cy="457200"/>
          </a:xfrm>
          <a:prstGeom prst="rect">
            <a:avLst/>
          </a:prstGeom>
          <a:noFill/>
        </p:spPr>
        <p:txBody>
          <a:bodyPr wrap="square" anchor="t" lIns="0" rIns="0" tIns="0" bIns="0">
            <a:spAutoFit/>
          </a:bodyPr>
          <a:lstStyle/>
          <a:p>
            <a:pPr>
              <a:lnSpc>
                <a:spcPct val="105000"/>
              </a:lnSpc>
              <a:spcBef>
                <a:spcPts val="0"/>
              </a:spcBef>
              <a:spcAft>
                <a:spcPts val="400"/>
              </a:spcAft>
            </a:pPr>
            <a:r>
              <a:rPr sz="1600" b="1" i="0">
                <a:solidFill>
                  <a:srgbClr val="16212B"/>
                </a:solidFill>
                <a:latin typeface="Segoe UI"/>
              </a:rPr>
              <a:t>Vì sao bài báo ~0.79 còn tôi ~0.76?</a:t>
            </a:r>
          </a:p>
        </p:txBody>
      </p:sp>
      <p:sp>
        <p:nvSpPr>
          <p:cNvPr id="9" name="Rounded Rectangle 8"/>
          <p:cNvSpPr/>
          <p:nvPr/>
        </p:nvSpPr>
        <p:spPr>
          <a:xfrm>
            <a:off x="6309360" y="2286000"/>
            <a:ext cx="2596896" cy="310896"/>
          </a:xfrm>
          <a:prstGeom prst="roundRect">
            <a:avLst>
              <a:gd name="adj" fmla="val 8000"/>
            </a:avLst>
          </a:prstGeom>
          <a:solidFill>
            <a:srgbClr val="E3EEF1"/>
          </a:solidFill>
          <a:ln w="9525">
            <a:solidFill>
              <a:srgbClr val="1F6F83"/>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150" b="1" i="0">
                <a:solidFill>
                  <a:srgbClr val="1F6F83"/>
                </a:solidFill>
                <a:latin typeface="Segoe UI"/>
              </a:rPr>
              <a:t>Cấu hình GIỐNG HỆT</a:t>
            </a:r>
          </a:p>
        </p:txBody>
      </p:sp>
      <p:sp>
        <p:nvSpPr>
          <p:cNvPr id="10" name="TextBox 9"/>
          <p:cNvSpPr txBox="1"/>
          <p:nvPr/>
        </p:nvSpPr>
        <p:spPr>
          <a:xfrm>
            <a:off x="6309360" y="2788920"/>
            <a:ext cx="5029200" cy="2743200"/>
          </a:xfrm>
          <a:prstGeom prst="rect">
            <a:avLst/>
          </a:prstGeom>
          <a:noFill/>
        </p:spPr>
        <p:txBody>
          <a:bodyPr wrap="square" anchor="t" lIns="0" rIns="0" tIns="0" bIns="0">
            <a:spAutoFit/>
          </a:bodyPr>
          <a:lstStyle/>
          <a:p>
            <a:pPr>
              <a:lnSpc>
                <a:spcPct val="125000"/>
              </a:lnSpc>
              <a:spcBef>
                <a:spcPts val="0"/>
              </a:spcBef>
              <a:spcAft>
                <a:spcPts val="400"/>
              </a:spcAft>
            </a:pPr>
            <a:r>
              <a:rPr sz="1300" b="0" i="0">
                <a:solidFill>
                  <a:srgbClr val="16212B"/>
                </a:solidFill>
                <a:latin typeface="Segoe UI"/>
              </a:rPr>
              <a:t>Khác biệt thuần ở cách đo: bài báo báo </a:t>
            </a:r>
            <a:r>
              <a:rPr sz="1300" b="1" i="0">
                <a:solidFill>
                  <a:srgbClr val="16212B"/>
                </a:solidFill>
                <a:latin typeface="Segoe UI"/>
              </a:rPr>
              <a:t>1 lần chạy</a:t>
            </a:r>
            <a:r>
              <a:rPr sz="1300" b="0" i="0">
                <a:solidFill>
                  <a:srgbClr val="16212B"/>
                </a:solidFill>
                <a:latin typeface="Segoe UI"/>
              </a:rPr>
              <a:t>; tôi trung bình </a:t>
            </a:r>
            <a:r>
              <a:rPr sz="1300" b="1" i="0">
                <a:solidFill>
                  <a:srgbClr val="16212B"/>
                </a:solidFill>
                <a:latin typeface="Segoe UI"/>
              </a:rPr>
              <a:t>5 phân hoạch</a:t>
            </a:r>
            <a:r>
              <a:rPr sz="1300" b="0" i="0">
                <a:solidFill>
                  <a:srgbClr val="16212B"/>
                </a:solidFill>
                <a:latin typeface="Segoe UI"/>
              </a:rPr>
              <a:t>. Tái lập kiểu 1-lần: BM4 khớp 4 chữ số (0.6932 vs 0.6931), BM1 = 0.7976. Số 0.79 là một phân hoạch thuận lợi.</a:t>
            </a:r>
          </a:p>
        </p:txBody>
      </p:sp>
      <p:sp>
        <p:nvSpPr>
          <p:cNvPr id="11" name="Rectangle 10"/>
          <p:cNvSpPr/>
          <p:nvPr/>
        </p:nvSpPr>
        <p:spPr>
          <a:xfrm>
            <a:off x="822960" y="5806440"/>
            <a:ext cx="10543032" cy="74980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5806440"/>
            <a:ext cx="54864" cy="749808"/>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916168"/>
            <a:ext cx="10177272" cy="566928"/>
          </a:xfrm>
          <a:prstGeom prst="rect">
            <a:avLst/>
          </a:prstGeom>
          <a:noFill/>
        </p:spPr>
        <p:txBody>
          <a:bodyPr wrap="square" anchor="ctr" lIns="0" rIns="0" tIns="0" bIns="0">
            <a:spAutoFit/>
          </a:bodyPr>
          <a:lstStyle/>
          <a:p>
            <a:pPr>
              <a:lnSpc>
                <a:spcPct val="108000"/>
              </a:lnSpc>
              <a:spcBef>
                <a:spcPts val="0"/>
              </a:spcBef>
              <a:spcAft>
                <a:spcPts val="400"/>
              </a:spcAft>
            </a:pPr>
            <a:r>
              <a:rPr sz="1050" b="1" i="0" spc="120">
                <a:solidFill>
                  <a:srgbClr val="1F6F83"/>
                </a:solidFill>
                <a:latin typeface="Segoe UI"/>
              </a:rPr>
              <a:t>Ý NGHĨA   </a:t>
            </a:r>
            <a:r>
              <a:rPr sz="1300" b="0" i="0">
                <a:solidFill>
                  <a:srgbClr val="16212B"/>
                </a:solidFill>
                <a:latin typeface="Segoe UI"/>
              </a:rPr>
              <a:t>Con số nội bộ dao động ~0.02 theo phân hoạch → </a:t>
            </a:r>
            <a:r>
              <a:rPr sz="1300" b="1" i="0">
                <a:solidFill>
                  <a:srgbClr val="16212B"/>
                </a:solidFill>
                <a:latin typeface="Segoe UI"/>
              </a:rPr>
              <a:t>chênh giữa các model đều trong nhiễu</a:t>
            </a:r>
            <a:r>
              <a:rPr sz="1300" b="0" i="0">
                <a:solidFill>
                  <a:srgbClr val="16212B"/>
                </a:solidFill>
                <a:latin typeface="Segoe UI"/>
              </a:rPr>
              <a:t>; nên báo cáo 5-seed.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40">
                <a:solidFill>
                  <a:srgbClr val="8595A3"/>
                </a:solidFill>
                <a:latin typeface="Segoe UI"/>
              </a:rPr>
              <a:t>D  </a:t>
            </a:r>
            <a:r>
              <a:rPr sz="1200" b="1" i="0" spc="140">
                <a:solidFill>
                  <a:srgbClr val="1F6F83"/>
                </a:solidFill>
                <a:latin typeface="Segoe UI"/>
              </a:rPr>
              <a:t>FOUNDATION EMBEDDING — QUY TRÌNH TRÍCH ĐẶC TRƯNG</a:t>
            </a:r>
          </a:p>
        </p:txBody>
      </p:sp>
      <p:sp>
        <p:nvSpPr>
          <p:cNvPr id="4" name="TextBox 3"/>
          <p:cNvSpPr txBox="1"/>
          <p:nvPr/>
        </p:nvSpPr>
        <p:spPr>
          <a:xfrm>
            <a:off x="822960" y="932688"/>
            <a:ext cx="10515600" cy="1280160"/>
          </a:xfrm>
          <a:prstGeom prst="rect">
            <a:avLst/>
          </a:prstGeom>
          <a:noFill/>
        </p:spPr>
        <p:txBody>
          <a:bodyPr wrap="square" anchor="t" lIns="0" rIns="0" tIns="0" bIns="0">
            <a:spAutoFit/>
          </a:bodyPr>
          <a:lstStyle/>
          <a:p>
            <a:pPr>
              <a:lnSpc>
                <a:spcPct val="102000"/>
              </a:lnSpc>
              <a:spcBef>
                <a:spcPts val="0"/>
              </a:spcBef>
              <a:spcAft>
                <a:spcPts val="400"/>
              </a:spcAft>
            </a:pPr>
            <a:r>
              <a:rPr sz="2300" b="1" i="0">
                <a:solidFill>
                  <a:srgbClr val="16212B"/>
                </a:solidFill>
                <a:latin typeface="Segoe UI"/>
              </a:rPr>
              <a:t>Từ ảnh gốc → vector: pipeline pathology &amp; radiology</a:t>
            </a:r>
          </a:p>
        </p:txBody>
      </p:sp>
      <p:sp>
        <p:nvSpPr>
          <p:cNvPr id="5" name="TextBox 4"/>
          <p:cNvSpPr txBox="1"/>
          <p:nvPr/>
        </p:nvSpPr>
        <p:spPr>
          <a:xfrm>
            <a:off x="822960" y="2066544"/>
            <a:ext cx="10515600" cy="329184"/>
          </a:xfrm>
          <a:prstGeom prst="rect">
            <a:avLst/>
          </a:prstGeom>
          <a:noFill/>
        </p:spPr>
        <p:txBody>
          <a:bodyPr wrap="square" anchor="t" lIns="0" rIns="0" tIns="0" bIns="0">
            <a:spAutoFit/>
          </a:bodyPr>
          <a:lstStyle/>
          <a:p>
            <a:pPr>
              <a:lnSpc>
                <a:spcPct val="105000"/>
              </a:lnSpc>
              <a:spcBef>
                <a:spcPts val="0"/>
              </a:spcBef>
              <a:spcAft>
                <a:spcPts val="400"/>
              </a:spcAft>
            </a:pPr>
            <a:r>
              <a:rPr sz="1300" b="1" i="0" spc="60">
                <a:solidFill>
                  <a:srgbClr val="1F6F83"/>
                </a:solidFill>
                <a:latin typeface="Segoe UI"/>
              </a:rPr>
              <a:t>PATHOLOGY  (WSI)    </a:t>
            </a:r>
            <a:r>
              <a:rPr sz="1150" b="0" i="0">
                <a:solidFill>
                  <a:srgbClr val="586878"/>
                </a:solidFill>
                <a:latin typeface="Segoe UI"/>
              </a:rPr>
              <a:t>235 slide · nhuộm PD-L1</a:t>
            </a:r>
          </a:p>
        </p:txBody>
      </p:sp>
      <p:sp>
        <p:nvSpPr>
          <p:cNvPr id="6" name="Rounded Rectangle 5"/>
          <p:cNvSpPr/>
          <p:nvPr/>
        </p:nvSpPr>
        <p:spPr>
          <a:xfrm>
            <a:off x="868680" y="2468880"/>
            <a:ext cx="1737360" cy="914400"/>
          </a:xfrm>
          <a:prstGeom prst="roundRect">
            <a:avLst>
              <a:gd name="adj" fmla="val 8000"/>
            </a:avLst>
          </a:prstGeom>
          <a:solidFill>
            <a:srgbClr val="F4F6F8"/>
          </a:solidFill>
          <a:ln w="15875">
            <a:solidFill>
              <a:srgbClr val="E0E6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6212B"/>
                </a:solidFill>
                <a:latin typeface="Segoe UI"/>
              </a:rPr>
              <a:t>WSI .svs</a:t>
            </a:r>
          </a:p>
          <a:p>
            <a:pPr algn="ctr">
              <a:lnSpc>
                <a:spcPct val="100000"/>
              </a:lnSpc>
              <a:spcBef>
                <a:spcPts val="300"/>
              </a:spcBef>
            </a:pPr>
            <a:r>
              <a:rPr sz="1100" b="0" i="0">
                <a:solidFill>
                  <a:srgbClr val="586878"/>
                </a:solidFill>
                <a:latin typeface="Segoe UI"/>
              </a:rPr>
              <a:t>slide gốc</a:t>
            </a:r>
          </a:p>
        </p:txBody>
      </p:sp>
      <p:sp>
        <p:nvSpPr>
          <p:cNvPr id="7" name="Right Arrow 6"/>
          <p:cNvSpPr/>
          <p:nvPr/>
        </p:nvSpPr>
        <p:spPr>
          <a:xfrm>
            <a:off x="2633471" y="2807208"/>
            <a:ext cx="384048" cy="237744"/>
          </a:xfrm>
          <a:prstGeom prst="rightArrow">
            <a:avLst>
              <a:gd name="adj1" fmla="val 55000"/>
              <a:gd name="adj2" fmla="val 50000"/>
            </a:avLst>
          </a:prstGeom>
          <a:solidFill>
            <a:srgbClr val="859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044952" y="2468880"/>
            <a:ext cx="1737360" cy="914400"/>
          </a:xfrm>
          <a:prstGeom prst="roundRect">
            <a:avLst>
              <a:gd name="adj" fmla="val 8000"/>
            </a:avLst>
          </a:prstGeom>
          <a:solidFill>
            <a:srgbClr val="F4F6F8"/>
          </a:solidFill>
          <a:ln w="15875">
            <a:solidFill>
              <a:srgbClr val="E0E6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6212B"/>
                </a:solidFill>
                <a:latin typeface="Segoe UI"/>
              </a:rPr>
              <a:t>Tile 256²@20x</a:t>
            </a:r>
          </a:p>
          <a:p>
            <a:pPr algn="ctr">
              <a:lnSpc>
                <a:spcPct val="100000"/>
              </a:lnSpc>
              <a:spcBef>
                <a:spcPts val="300"/>
              </a:spcBef>
            </a:pPr>
            <a:r>
              <a:rPr sz="1100" b="0" i="0">
                <a:solidFill>
                  <a:srgbClr val="586878"/>
                </a:solidFill>
                <a:latin typeface="Segoe UI"/>
              </a:rPr>
              <a:t>vùng Tumor (HALO)</a:t>
            </a:r>
          </a:p>
        </p:txBody>
      </p:sp>
      <p:sp>
        <p:nvSpPr>
          <p:cNvPr id="9" name="Right Arrow 8"/>
          <p:cNvSpPr/>
          <p:nvPr/>
        </p:nvSpPr>
        <p:spPr>
          <a:xfrm>
            <a:off x="4809744" y="2807208"/>
            <a:ext cx="384048" cy="237744"/>
          </a:xfrm>
          <a:prstGeom prst="rightArrow">
            <a:avLst>
              <a:gd name="adj1" fmla="val 55000"/>
              <a:gd name="adj2" fmla="val 50000"/>
            </a:avLst>
          </a:prstGeom>
          <a:solidFill>
            <a:srgbClr val="859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21224" y="2468880"/>
            <a:ext cx="1737360" cy="914400"/>
          </a:xfrm>
          <a:prstGeom prst="roundRect">
            <a:avLst>
              <a:gd name="adj" fmla="val 8000"/>
            </a:avLst>
          </a:prstGeom>
          <a:solidFill>
            <a:srgbClr val="E3EEF1"/>
          </a:solidFill>
          <a:ln w="15875">
            <a:solidFill>
              <a:srgbClr val="1F6F8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F6F83"/>
                </a:solidFill>
                <a:latin typeface="Segoe UI"/>
              </a:rPr>
              <a:t>Phikon ViT-B</a:t>
            </a:r>
          </a:p>
          <a:p>
            <a:pPr algn="ctr">
              <a:lnSpc>
                <a:spcPct val="100000"/>
              </a:lnSpc>
              <a:spcBef>
                <a:spcPts val="300"/>
              </a:spcBef>
            </a:pPr>
            <a:r>
              <a:rPr sz="1100" b="0" i="0">
                <a:solidFill>
                  <a:srgbClr val="586878"/>
                </a:solidFill>
                <a:latin typeface="Segoe UI"/>
              </a:rPr>
              <a:t>768-d / tile</a:t>
            </a:r>
          </a:p>
        </p:txBody>
      </p:sp>
      <p:sp>
        <p:nvSpPr>
          <p:cNvPr id="11" name="Right Arrow 10"/>
          <p:cNvSpPr/>
          <p:nvPr/>
        </p:nvSpPr>
        <p:spPr>
          <a:xfrm>
            <a:off x="6986016" y="2807208"/>
            <a:ext cx="384048" cy="237744"/>
          </a:xfrm>
          <a:prstGeom prst="rightArrow">
            <a:avLst>
              <a:gd name="adj1" fmla="val 55000"/>
              <a:gd name="adj2" fmla="val 50000"/>
            </a:avLst>
          </a:prstGeom>
          <a:solidFill>
            <a:srgbClr val="859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97496" y="2468880"/>
            <a:ext cx="1737360" cy="914400"/>
          </a:xfrm>
          <a:prstGeom prst="roundRect">
            <a:avLst>
              <a:gd name="adj" fmla="val 8000"/>
            </a:avLst>
          </a:prstGeom>
          <a:solidFill>
            <a:srgbClr val="F5E7DF"/>
          </a:solidFill>
          <a:ln w="15875">
            <a:solidFill>
              <a:srgbClr val="B3603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B3603A"/>
                </a:solidFill>
                <a:latin typeface="Segoe UI"/>
              </a:rPr>
              <a:t>Mean-pool</a:t>
            </a:r>
          </a:p>
          <a:p>
            <a:pPr algn="ctr">
              <a:lnSpc>
                <a:spcPct val="100000"/>
              </a:lnSpc>
              <a:spcBef>
                <a:spcPts val="300"/>
              </a:spcBef>
            </a:pPr>
            <a:r>
              <a:rPr sz="1100" b="0" i="0">
                <a:solidFill>
                  <a:srgbClr val="586878"/>
                </a:solidFill>
                <a:latin typeface="Segoe UI"/>
              </a:rPr>
              <a:t>gộp mọi tile</a:t>
            </a:r>
          </a:p>
        </p:txBody>
      </p:sp>
      <p:sp>
        <p:nvSpPr>
          <p:cNvPr id="13" name="Right Arrow 12"/>
          <p:cNvSpPr/>
          <p:nvPr/>
        </p:nvSpPr>
        <p:spPr>
          <a:xfrm>
            <a:off x="9162288" y="2807208"/>
            <a:ext cx="384048" cy="237744"/>
          </a:xfrm>
          <a:prstGeom prst="rightArrow">
            <a:avLst>
              <a:gd name="adj1" fmla="val 55000"/>
              <a:gd name="adj2" fmla="val 50000"/>
            </a:avLst>
          </a:prstGeom>
          <a:solidFill>
            <a:srgbClr val="859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573767" y="2468880"/>
            <a:ext cx="1737360" cy="914400"/>
          </a:xfrm>
          <a:prstGeom prst="roundRect">
            <a:avLst>
              <a:gd name="adj" fmla="val 8000"/>
            </a:avLst>
          </a:prstGeom>
          <a:solidFill>
            <a:srgbClr val="E2EFE9"/>
          </a:solidFill>
          <a:ln w="15875">
            <a:solidFill>
              <a:srgbClr val="2F7D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2F7D5B"/>
                </a:solidFill>
                <a:latin typeface="Segoe UI"/>
              </a:rPr>
              <a:t>Vector 768-d</a:t>
            </a:r>
          </a:p>
          <a:p>
            <a:pPr algn="ctr">
              <a:lnSpc>
                <a:spcPct val="100000"/>
              </a:lnSpc>
              <a:spcBef>
                <a:spcPts val="300"/>
              </a:spcBef>
            </a:pPr>
            <a:r>
              <a:rPr sz="1100" b="0" i="0">
                <a:solidFill>
                  <a:srgbClr val="586878"/>
                </a:solidFill>
                <a:latin typeface="Segoe UI"/>
              </a:rPr>
              <a:t>→ LR / fusion</a:t>
            </a:r>
          </a:p>
        </p:txBody>
      </p:sp>
      <p:sp>
        <p:nvSpPr>
          <p:cNvPr id="15" name="TextBox 14"/>
          <p:cNvSpPr txBox="1"/>
          <p:nvPr/>
        </p:nvSpPr>
        <p:spPr>
          <a:xfrm>
            <a:off x="822960" y="4032503"/>
            <a:ext cx="10515600" cy="329184"/>
          </a:xfrm>
          <a:prstGeom prst="rect">
            <a:avLst/>
          </a:prstGeom>
          <a:noFill/>
        </p:spPr>
        <p:txBody>
          <a:bodyPr wrap="square" anchor="t" lIns="0" rIns="0" tIns="0" bIns="0">
            <a:spAutoFit/>
          </a:bodyPr>
          <a:lstStyle/>
          <a:p>
            <a:pPr>
              <a:lnSpc>
                <a:spcPct val="105000"/>
              </a:lnSpc>
              <a:spcBef>
                <a:spcPts val="0"/>
              </a:spcBef>
              <a:spcAft>
                <a:spcPts val="400"/>
              </a:spcAft>
            </a:pPr>
            <a:r>
              <a:rPr sz="1300" b="1" i="0" spc="60">
                <a:solidFill>
                  <a:srgbClr val="1F6F83"/>
                </a:solidFill>
                <a:latin typeface="Segoe UI"/>
              </a:rPr>
              <a:t>RADIOLOGY  (CT)    </a:t>
            </a:r>
            <a:r>
              <a:rPr sz="1150" b="0" i="0">
                <a:solidFill>
                  <a:srgbClr val="586878"/>
                </a:solidFill>
                <a:latin typeface="Segoe UI"/>
              </a:rPr>
              <a:t>237 volume · lesion mask</a:t>
            </a:r>
          </a:p>
        </p:txBody>
      </p:sp>
      <p:sp>
        <p:nvSpPr>
          <p:cNvPr id="16" name="Rounded Rectangle 15"/>
          <p:cNvSpPr/>
          <p:nvPr/>
        </p:nvSpPr>
        <p:spPr>
          <a:xfrm>
            <a:off x="868680" y="4434840"/>
            <a:ext cx="1737360" cy="914400"/>
          </a:xfrm>
          <a:prstGeom prst="roundRect">
            <a:avLst>
              <a:gd name="adj" fmla="val 8000"/>
            </a:avLst>
          </a:prstGeom>
          <a:solidFill>
            <a:srgbClr val="F4F6F8"/>
          </a:solidFill>
          <a:ln w="15875">
            <a:solidFill>
              <a:srgbClr val="E0E6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6212B"/>
                </a:solidFill>
                <a:latin typeface="Segoe UI"/>
              </a:rPr>
              <a:t>CT .nii + .mha</a:t>
            </a:r>
          </a:p>
          <a:p>
            <a:pPr algn="ctr">
              <a:lnSpc>
                <a:spcPct val="100000"/>
              </a:lnSpc>
              <a:spcBef>
                <a:spcPts val="300"/>
              </a:spcBef>
            </a:pPr>
            <a:r>
              <a:rPr sz="1100" b="0" i="0">
                <a:solidFill>
                  <a:srgbClr val="586878"/>
                </a:solidFill>
                <a:latin typeface="Segoe UI"/>
              </a:rPr>
              <a:t>series khớp size</a:t>
            </a:r>
          </a:p>
        </p:txBody>
      </p:sp>
      <p:sp>
        <p:nvSpPr>
          <p:cNvPr id="17" name="Right Arrow 16"/>
          <p:cNvSpPr/>
          <p:nvPr/>
        </p:nvSpPr>
        <p:spPr>
          <a:xfrm>
            <a:off x="2633471" y="4773168"/>
            <a:ext cx="384048" cy="237744"/>
          </a:xfrm>
          <a:prstGeom prst="rightArrow">
            <a:avLst>
              <a:gd name="adj1" fmla="val 55000"/>
              <a:gd name="adj2" fmla="val 50000"/>
            </a:avLst>
          </a:prstGeom>
          <a:solidFill>
            <a:srgbClr val="859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044952" y="4434840"/>
            <a:ext cx="1737360" cy="914400"/>
          </a:xfrm>
          <a:prstGeom prst="roundRect">
            <a:avLst>
              <a:gd name="adj" fmla="val 8000"/>
            </a:avLst>
          </a:prstGeom>
          <a:solidFill>
            <a:srgbClr val="F4F6F8"/>
          </a:solidFill>
          <a:ln w="15875">
            <a:solidFill>
              <a:srgbClr val="E0E6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6212B"/>
                </a:solidFill>
                <a:latin typeface="Segoe UI"/>
              </a:rPr>
              <a:t>Window + crop</a:t>
            </a:r>
          </a:p>
          <a:p>
            <a:pPr algn="ctr">
              <a:lnSpc>
                <a:spcPct val="100000"/>
              </a:lnSpc>
              <a:spcBef>
                <a:spcPts val="300"/>
              </a:spcBef>
            </a:pPr>
            <a:r>
              <a:rPr sz="1100" b="0" i="0">
                <a:solidFill>
                  <a:srgbClr val="586878"/>
                </a:solidFill>
                <a:latin typeface="Segoe UI"/>
              </a:rPr>
              <a:t>lát/khối quanh lesion</a:t>
            </a:r>
          </a:p>
        </p:txBody>
      </p:sp>
      <p:sp>
        <p:nvSpPr>
          <p:cNvPr id="19" name="Right Arrow 18"/>
          <p:cNvSpPr/>
          <p:nvPr/>
        </p:nvSpPr>
        <p:spPr>
          <a:xfrm>
            <a:off x="4809744" y="4773168"/>
            <a:ext cx="384048" cy="237744"/>
          </a:xfrm>
          <a:prstGeom prst="rightArrow">
            <a:avLst>
              <a:gd name="adj1" fmla="val 55000"/>
              <a:gd name="adj2" fmla="val 50000"/>
            </a:avLst>
          </a:prstGeom>
          <a:solidFill>
            <a:srgbClr val="859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221224" y="4434840"/>
            <a:ext cx="1737360" cy="914400"/>
          </a:xfrm>
          <a:prstGeom prst="roundRect">
            <a:avLst>
              <a:gd name="adj" fmla="val 8000"/>
            </a:avLst>
          </a:prstGeom>
          <a:solidFill>
            <a:srgbClr val="E3EEF1"/>
          </a:solidFill>
          <a:ln w="15875">
            <a:solidFill>
              <a:srgbClr val="1F6F8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F6F83"/>
                </a:solidFill>
                <a:latin typeface="Segoe UI"/>
              </a:rPr>
              <a:t>Encoder CT</a:t>
            </a:r>
          </a:p>
          <a:p>
            <a:pPr algn="ctr">
              <a:lnSpc>
                <a:spcPct val="100000"/>
              </a:lnSpc>
              <a:spcBef>
                <a:spcPts val="300"/>
              </a:spcBef>
            </a:pPr>
            <a:r>
              <a:rPr sz="1100" b="0" i="0">
                <a:solidFill>
                  <a:srgbClr val="586878"/>
                </a:solidFill>
                <a:latin typeface="Segoe UI"/>
              </a:rPr>
              <a:t>BiomedCLIP·MedicalNet·fmcib</a:t>
            </a:r>
          </a:p>
        </p:txBody>
      </p:sp>
      <p:sp>
        <p:nvSpPr>
          <p:cNvPr id="21" name="Right Arrow 20"/>
          <p:cNvSpPr/>
          <p:nvPr/>
        </p:nvSpPr>
        <p:spPr>
          <a:xfrm>
            <a:off x="6986016" y="4773168"/>
            <a:ext cx="384048" cy="237744"/>
          </a:xfrm>
          <a:prstGeom prst="rightArrow">
            <a:avLst>
              <a:gd name="adj1" fmla="val 55000"/>
              <a:gd name="adj2" fmla="val 50000"/>
            </a:avLst>
          </a:prstGeom>
          <a:solidFill>
            <a:srgbClr val="859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97496" y="4434840"/>
            <a:ext cx="1737360" cy="914400"/>
          </a:xfrm>
          <a:prstGeom prst="roundRect">
            <a:avLst>
              <a:gd name="adj" fmla="val 8000"/>
            </a:avLst>
          </a:prstGeom>
          <a:solidFill>
            <a:srgbClr val="F5E7DF"/>
          </a:solidFill>
          <a:ln w="15875">
            <a:solidFill>
              <a:srgbClr val="B3603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B3603A"/>
                </a:solidFill>
                <a:latin typeface="Segoe UI"/>
              </a:rPr>
              <a:t>Mean-pool</a:t>
            </a:r>
          </a:p>
          <a:p>
            <a:pPr algn="ctr">
              <a:lnSpc>
                <a:spcPct val="100000"/>
              </a:lnSpc>
              <a:spcBef>
                <a:spcPts val="300"/>
              </a:spcBef>
            </a:pPr>
            <a:r>
              <a:rPr sz="1100" b="0" i="0">
                <a:solidFill>
                  <a:srgbClr val="586878"/>
                </a:solidFill>
                <a:latin typeface="Segoe UI"/>
              </a:rPr>
              <a:t>/ volume</a:t>
            </a:r>
          </a:p>
        </p:txBody>
      </p:sp>
      <p:sp>
        <p:nvSpPr>
          <p:cNvPr id="23" name="Right Arrow 22"/>
          <p:cNvSpPr/>
          <p:nvPr/>
        </p:nvSpPr>
        <p:spPr>
          <a:xfrm>
            <a:off x="9162288" y="4773168"/>
            <a:ext cx="384048" cy="237744"/>
          </a:xfrm>
          <a:prstGeom prst="rightArrow">
            <a:avLst>
              <a:gd name="adj1" fmla="val 55000"/>
              <a:gd name="adj2" fmla="val 50000"/>
            </a:avLst>
          </a:prstGeom>
          <a:solidFill>
            <a:srgbClr val="859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573767" y="4434840"/>
            <a:ext cx="1737360" cy="914400"/>
          </a:xfrm>
          <a:prstGeom prst="roundRect">
            <a:avLst>
              <a:gd name="adj" fmla="val 8000"/>
            </a:avLst>
          </a:prstGeom>
          <a:solidFill>
            <a:srgbClr val="E2EFE9"/>
          </a:solidFill>
          <a:ln w="15875">
            <a:solidFill>
              <a:srgbClr val="2F7D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2F7D5B"/>
                </a:solidFill>
                <a:latin typeface="Segoe UI"/>
              </a:rPr>
              <a:t>Vector 512–4096-d</a:t>
            </a:r>
          </a:p>
          <a:p>
            <a:pPr algn="ctr">
              <a:lnSpc>
                <a:spcPct val="100000"/>
              </a:lnSpc>
              <a:spcBef>
                <a:spcPts val="300"/>
              </a:spcBef>
            </a:pPr>
            <a:r>
              <a:rPr sz="1100" b="0" i="0">
                <a:solidFill>
                  <a:srgbClr val="586878"/>
                </a:solidFill>
                <a:latin typeface="Segoe UI"/>
              </a:rPr>
              <a:t>→ LR / fusion</a:t>
            </a:r>
          </a:p>
        </p:txBody>
      </p:sp>
      <p:sp>
        <p:nvSpPr>
          <p:cNvPr id="25" name="Rectangle 24"/>
          <p:cNvSpPr/>
          <p:nvPr/>
        </p:nvSpPr>
        <p:spPr>
          <a:xfrm>
            <a:off x="822960" y="5806440"/>
            <a:ext cx="10543032" cy="74980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 y="5806440"/>
            <a:ext cx="54864" cy="749808"/>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1560" y="5916168"/>
            <a:ext cx="10177272" cy="566928"/>
          </a:xfrm>
          <a:prstGeom prst="rect">
            <a:avLst/>
          </a:prstGeom>
          <a:noFill/>
        </p:spPr>
        <p:txBody>
          <a:bodyPr wrap="square" anchor="ctr" lIns="0" rIns="0" tIns="0" bIns="0">
            <a:spAutoFit/>
          </a:bodyPr>
          <a:lstStyle/>
          <a:p>
            <a:pPr>
              <a:lnSpc>
                <a:spcPct val="108000"/>
              </a:lnSpc>
              <a:spcBef>
                <a:spcPts val="0"/>
              </a:spcBef>
              <a:spcAft>
                <a:spcPts val="400"/>
              </a:spcAft>
            </a:pPr>
            <a:r>
              <a:rPr sz="1050" b="1" i="0" spc="120">
                <a:solidFill>
                  <a:srgbClr val="1F6F83"/>
                </a:solidFill>
                <a:latin typeface="Segoe UI"/>
              </a:rPr>
              <a:t>HAI LỰA CHỌN THIẾT KẾ   </a:t>
            </a:r>
            <a:r>
              <a:rPr sz="1300" b="0" i="0">
                <a:solidFill>
                  <a:srgbClr val="16212B"/>
                </a:solidFill>
                <a:latin typeface="Segoe UI"/>
              </a:rPr>
              <a:t>Encoder ĐÓNG BĂNG (chỉ inference, không fine-tune)  ·  gộp bằng </a:t>
            </a:r>
            <a:r>
              <a:rPr sz="1300" b="1" i="0">
                <a:solidFill>
                  <a:srgbClr val="B3603A"/>
                </a:solidFill>
                <a:latin typeface="Segoe UI"/>
              </a:rPr>
              <a:t>mean-pool — cách thô nhất</a:t>
            </a:r>
            <a:r>
              <a:rPr sz="1300" b="0" i="0">
                <a:solidFill>
                  <a:srgbClr val="16212B"/>
                </a:solidFill>
                <a:latin typeface="Segoe UI"/>
              </a:rPr>
              <a:t> (chuẩn hơn là ABMIL). Vừa là thiết kế, vừa là giới hạn của thí nghiệm.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40">
                <a:solidFill>
                  <a:srgbClr val="8595A3"/>
                </a:solidFill>
                <a:latin typeface="Segoe UI"/>
              </a:rPr>
              <a:t>D  </a:t>
            </a:r>
            <a:r>
              <a:rPr sz="1200" b="1" i="0" spc="140">
                <a:solidFill>
                  <a:srgbClr val="1F6F83"/>
                </a:solidFill>
                <a:latin typeface="Segoe UI"/>
              </a:rPr>
              <a:t>FOUNDATION EMBEDDING TỪ ẢNH GỐC — KẾT QUẢ</a:t>
            </a:r>
          </a:p>
        </p:txBody>
      </p:sp>
      <p:sp>
        <p:nvSpPr>
          <p:cNvPr id="4" name="TextBox 3"/>
          <p:cNvSpPr txBox="1"/>
          <p:nvPr/>
        </p:nvSpPr>
        <p:spPr>
          <a:xfrm>
            <a:off x="822960" y="932688"/>
            <a:ext cx="10515600" cy="1280160"/>
          </a:xfrm>
          <a:prstGeom prst="rect">
            <a:avLst/>
          </a:prstGeom>
          <a:noFill/>
        </p:spPr>
        <p:txBody>
          <a:bodyPr wrap="square" anchor="t" lIns="0" rIns="0" tIns="0" bIns="0">
            <a:spAutoFit/>
          </a:bodyPr>
          <a:lstStyle/>
          <a:p>
            <a:pPr>
              <a:lnSpc>
                <a:spcPct val="102000"/>
              </a:lnSpc>
              <a:spcBef>
                <a:spcPts val="0"/>
              </a:spcBef>
              <a:spcAft>
                <a:spcPts val="400"/>
              </a:spcAft>
            </a:pPr>
            <a:r>
              <a:rPr sz="2300" b="1" i="0">
                <a:solidFill>
                  <a:srgbClr val="16212B"/>
                </a:solidFill>
                <a:latin typeface="Segoe UI"/>
              </a:rPr>
              <a:t>4 foundation model, 2 modality — không cái nào vượt thủ công</a:t>
            </a:r>
          </a:p>
        </p:txBody>
      </p:sp>
      <p:sp>
        <p:nvSpPr>
          <p:cNvPr id="5" name="Rounded Rectangle 4"/>
          <p:cNvSpPr/>
          <p:nvPr/>
        </p:nvSpPr>
        <p:spPr>
          <a:xfrm>
            <a:off x="822960" y="1554480"/>
            <a:ext cx="1883664" cy="310896"/>
          </a:xfrm>
          <a:prstGeom prst="roundRect">
            <a:avLst>
              <a:gd name="adj" fmla="val 8000"/>
            </a:avLst>
          </a:prstGeom>
          <a:solidFill>
            <a:srgbClr val="F5E7DF"/>
          </a:solidFill>
          <a:ln w="9525">
            <a:solidFill>
              <a:srgbClr val="B3603A"/>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150" b="1" i="0">
                <a:solidFill>
                  <a:srgbClr val="B3603A"/>
                </a:solidFill>
                <a:latin typeface="Segoe UI"/>
              </a:rPr>
              <a:t>Âm nhất quán</a:t>
            </a:r>
          </a:p>
        </p:txBody>
      </p:sp>
      <p:sp>
        <p:nvSpPr>
          <p:cNvPr id="6" name="Rounded Rectangle 5"/>
          <p:cNvSpPr/>
          <p:nvPr/>
        </p:nvSpPr>
        <p:spPr>
          <a:xfrm>
            <a:off x="3108960" y="1554480"/>
            <a:ext cx="4023360" cy="310896"/>
          </a:xfrm>
          <a:prstGeom prst="roundRect">
            <a:avLst>
              <a:gd name="adj" fmla="val 8000"/>
            </a:avLst>
          </a:prstGeom>
          <a:solidFill>
            <a:srgbClr val="F4F6F8"/>
          </a:solidFill>
          <a:ln w="9525">
            <a:solidFill>
              <a:srgbClr val="586878"/>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150" b="1" i="0">
                <a:solidFill>
                  <a:srgbClr val="586878"/>
                </a:solidFill>
                <a:latin typeface="Segoe UI"/>
              </a:rPr>
              <a:t>WSI 235 · CT 237 · GPU + Colab</a:t>
            </a:r>
          </a:p>
        </p:txBody>
      </p:sp>
      <p:graphicFrame>
        <p:nvGraphicFramePr>
          <p:cNvPr id="7" name="Table 6"/>
          <p:cNvGraphicFramePr>
            <a:graphicFrameLocks noGrp="1"/>
          </p:cNvGraphicFramePr>
          <p:nvPr/>
        </p:nvGraphicFramePr>
        <p:xfrm>
          <a:off x="822960" y="2148840"/>
          <a:ext cx="10515600" cy="2743200"/>
        </p:xfrm>
        <a:graphic>
          <a:graphicData uri="http://schemas.openxmlformats.org/drawingml/2006/table">
            <a:tbl>
              <a:tblPr firstRow="0" bandRow="0">
                <a:tableStyleId>{5C22544A-7EE6-4342-B048-85BDC9FD1C3A}</a:tableStyleId>
              </a:tblPr>
              <a:tblGrid>
                <a:gridCol w="3108960"/>
                <a:gridCol w="1554480"/>
                <a:gridCol w="1371600"/>
                <a:gridCol w="1371600"/>
                <a:gridCol w="3108960"/>
              </a:tblGrid>
              <a:tr h="329184">
                <a:tc>
                  <a:txBody>
                    <a:bodyPr/>
                    <a:lstStyle/>
                    <a:p>
                      <a:pPr algn="l"/>
                      <a:r>
                        <a:rPr sz="1000" b="1" i="0" spc="40">
                          <a:solidFill>
                            <a:srgbClr val="586878"/>
                          </a:solidFill>
                          <a:latin typeface="Segoe UI"/>
                        </a:rPr>
                        <a:t>ĐẶC TRƯNG</a:t>
                      </a:r>
                    </a:p>
                  </a:txBody>
                  <a:tcPr marL="73152" marR="73152" marT="18288" marB="18288" anchor="ctr">
                    <a:solidFill>
                      <a:srgbClr val="F4F6F8"/>
                    </a:solidFill>
                  </a:tcPr>
                </a:tc>
                <a:tc>
                  <a:txBody>
                    <a:bodyPr/>
                    <a:lstStyle/>
                    <a:p>
                      <a:pPr algn="r"/>
                      <a:r>
                        <a:rPr sz="1000" b="1" i="0" spc="40">
                          <a:solidFill>
                            <a:srgbClr val="586878"/>
                          </a:solidFill>
                          <a:latin typeface="Segoe UI"/>
                        </a:rPr>
                        <a:t>MODALITY</a:t>
                      </a:r>
                    </a:p>
                  </a:txBody>
                  <a:tcPr marL="73152" marR="73152" marT="18288" marB="18288" anchor="ctr">
                    <a:solidFill>
                      <a:srgbClr val="F4F6F8"/>
                    </a:solidFill>
                  </a:tcPr>
                </a:tc>
                <a:tc>
                  <a:txBody>
                    <a:bodyPr/>
                    <a:lstStyle/>
                    <a:p>
                      <a:pPr algn="r"/>
                      <a:r>
                        <a:rPr sz="1000" b="1" i="0" spc="40">
                          <a:solidFill>
                            <a:srgbClr val="586878"/>
                          </a:solidFill>
                          <a:latin typeface="Segoe UI"/>
                        </a:rPr>
                        <a:t>NỘI BỘ</a:t>
                      </a:r>
                    </a:p>
                  </a:txBody>
                  <a:tcPr marL="73152" marR="73152" marT="18288" marB="18288" anchor="ctr">
                    <a:solidFill>
                      <a:srgbClr val="F4F6F8"/>
                    </a:solidFill>
                  </a:tcPr>
                </a:tc>
                <a:tc>
                  <a:txBody>
                    <a:bodyPr/>
                    <a:lstStyle/>
                    <a:p>
                      <a:pPr algn="r"/>
                      <a:r>
                        <a:rPr sz="1000" b="1" i="0" spc="40">
                          <a:solidFill>
                            <a:srgbClr val="586878"/>
                          </a:solidFill>
                          <a:latin typeface="Segoe UI"/>
                        </a:rPr>
                        <a:t>EXTERNAL</a:t>
                      </a:r>
                    </a:p>
                  </a:txBody>
                  <a:tcPr marL="73152" marR="73152" marT="18288" marB="18288" anchor="ctr">
                    <a:solidFill>
                      <a:srgbClr val="F4F6F8"/>
                    </a:solidFill>
                  </a:tcPr>
                </a:tc>
                <a:tc>
                  <a:txBody>
                    <a:bodyPr/>
                    <a:lstStyle/>
                    <a:p>
                      <a:pPr algn="r"/>
                      <a:r>
                        <a:rPr sz="1000" b="1" i="0" spc="40">
                          <a:solidFill>
                            <a:srgbClr val="586878"/>
                          </a:solidFill>
                          <a:latin typeface="Segoe UI"/>
                        </a:rPr>
                        <a:t>ĐÁNH GIÁ</a:t>
                      </a:r>
                    </a:p>
                  </a:txBody>
                  <a:tcPr marL="73152" marR="73152" marT="18288" marB="18288" anchor="ctr">
                    <a:solidFill>
                      <a:srgbClr val="F4F6F8"/>
                    </a:solidFill>
                  </a:tcPr>
                </a:tc>
              </a:tr>
              <a:tr h="402336">
                <a:tc>
                  <a:txBody>
                    <a:bodyPr/>
                    <a:lstStyle/>
                    <a:p>
                      <a:pPr algn="l"/>
                      <a:r>
                        <a:rPr sz="1200" b="1" i="0">
                          <a:solidFill>
                            <a:srgbClr val="16212B"/>
                          </a:solidFill>
                          <a:latin typeface="Segoe UI"/>
                        </a:rPr>
                        <a:t>GLCM (thủ công)</a:t>
                      </a:r>
                    </a:p>
                  </a:txBody>
                  <a:tcPr marL="73152" marR="73152" marT="9144" marB="9144" anchor="ctr">
                    <a:solidFill>
                      <a:srgbClr val="E3EEF1"/>
                    </a:solidFill>
                  </a:tcPr>
                </a:tc>
                <a:tc>
                  <a:txBody>
                    <a:bodyPr/>
                    <a:lstStyle/>
                    <a:p>
                      <a:pPr algn="r"/>
                      <a:r>
                        <a:rPr sz="1200" b="0" i="0">
                          <a:solidFill>
                            <a:srgbClr val="16212B"/>
                          </a:solidFill>
                          <a:latin typeface="Segoe UI"/>
                        </a:rPr>
                        <a:t>pathology</a:t>
                      </a:r>
                    </a:p>
                  </a:txBody>
                  <a:tcPr marL="73152" marR="73152" marT="9144" marB="9144" anchor="ctr">
                    <a:solidFill>
                      <a:srgbClr val="E3EEF1"/>
                    </a:solidFill>
                  </a:tcPr>
                </a:tc>
                <a:tc>
                  <a:txBody>
                    <a:bodyPr/>
                    <a:lstStyle/>
                    <a:p>
                      <a:pPr algn="r"/>
                      <a:r>
                        <a:rPr sz="1200" b="0" i="0">
                          <a:solidFill>
                            <a:srgbClr val="16212B"/>
                          </a:solidFill>
                          <a:latin typeface="Segoe UI"/>
                        </a:rPr>
                        <a:t>0.622</a:t>
                      </a:r>
                    </a:p>
                  </a:txBody>
                  <a:tcPr marL="73152" marR="73152" marT="9144" marB="9144" anchor="ctr">
                    <a:solidFill>
                      <a:srgbClr val="E3EEF1"/>
                    </a:solidFill>
                  </a:tcPr>
                </a:tc>
                <a:tc>
                  <a:txBody>
                    <a:bodyPr/>
                    <a:lstStyle/>
                    <a:p>
                      <a:pPr algn="r"/>
                      <a:r>
                        <a:rPr sz="1200" b="1" i="0">
                          <a:solidFill>
                            <a:srgbClr val="1F6F83"/>
                          </a:solidFill>
                          <a:latin typeface="Segoe UI"/>
                        </a:rPr>
                        <a:t>0.765</a:t>
                      </a:r>
                    </a:p>
                  </a:txBody>
                  <a:tcPr marL="73152" marR="73152" marT="9144" marB="9144" anchor="ctr">
                    <a:solidFill>
                      <a:srgbClr val="E3EEF1"/>
                    </a:solidFill>
                  </a:tcPr>
                </a:tc>
                <a:tc>
                  <a:txBody>
                    <a:bodyPr/>
                    <a:lstStyle/>
                    <a:p>
                      <a:pPr algn="r"/>
                      <a:r>
                        <a:rPr sz="1200" b="1" i="0">
                          <a:solidFill>
                            <a:srgbClr val="2F7D5B"/>
                          </a:solidFill>
                          <a:latin typeface="Segoe UI"/>
                        </a:rPr>
                        <a:t>generalize tốt</a:t>
                      </a:r>
                    </a:p>
                  </a:txBody>
                  <a:tcPr marL="73152" marR="73152" marT="9144" marB="9144" anchor="ctr">
                    <a:solidFill>
                      <a:srgbClr val="E3EEF1"/>
                    </a:solidFill>
                  </a:tcPr>
                </a:tc>
              </a:tr>
              <a:tr h="402336">
                <a:tc>
                  <a:txBody>
                    <a:bodyPr/>
                    <a:lstStyle/>
                    <a:p>
                      <a:pPr algn="l"/>
                      <a:r>
                        <a:rPr sz="1200" b="0" i="0">
                          <a:solidFill>
                            <a:srgbClr val="16212B"/>
                          </a:solidFill>
                          <a:latin typeface="Segoe UI"/>
                        </a:rPr>
                        <a:t>Phikon</a:t>
                      </a:r>
                    </a:p>
                  </a:txBody>
                  <a:tcPr marL="73152" marR="73152" marT="9144" marB="9144" anchor="ctr">
                    <a:solidFill>
                      <a:srgbClr val="FFFFFF"/>
                    </a:solidFill>
                  </a:tcPr>
                </a:tc>
                <a:tc>
                  <a:txBody>
                    <a:bodyPr/>
                    <a:lstStyle/>
                    <a:p>
                      <a:pPr algn="r"/>
                      <a:r>
                        <a:rPr sz="1200" b="0" i="0">
                          <a:solidFill>
                            <a:srgbClr val="16212B"/>
                          </a:solidFill>
                          <a:latin typeface="Segoe UI"/>
                        </a:rPr>
                        <a:t>pathology</a:t>
                      </a:r>
                    </a:p>
                  </a:txBody>
                  <a:tcPr marL="73152" marR="73152" marT="9144" marB="9144" anchor="ctr">
                    <a:solidFill>
                      <a:srgbClr val="FFFFFF"/>
                    </a:solidFill>
                  </a:tcPr>
                </a:tc>
                <a:tc>
                  <a:txBody>
                    <a:bodyPr/>
                    <a:lstStyle/>
                    <a:p>
                      <a:pPr algn="r"/>
                      <a:r>
                        <a:rPr sz="1200" b="1" i="0">
                          <a:solidFill>
                            <a:srgbClr val="2F7D5B"/>
                          </a:solidFill>
                          <a:latin typeface="Segoe UI"/>
                        </a:rPr>
                        <a:t>0.680</a:t>
                      </a:r>
                    </a:p>
                  </a:txBody>
                  <a:tcPr marL="73152" marR="73152" marT="9144" marB="9144" anchor="ctr">
                    <a:solidFill>
                      <a:srgbClr val="FFFFFF"/>
                    </a:solidFill>
                  </a:tcPr>
                </a:tc>
                <a:tc>
                  <a:txBody>
                    <a:bodyPr/>
                    <a:lstStyle/>
                    <a:p>
                      <a:pPr algn="r"/>
                      <a:r>
                        <a:rPr sz="1200" b="0" i="0">
                          <a:solidFill>
                            <a:srgbClr val="16212B"/>
                          </a:solidFill>
                          <a:latin typeface="Segoe UI"/>
                        </a:rPr>
                        <a:t>0.697</a:t>
                      </a:r>
                    </a:p>
                  </a:txBody>
                  <a:tcPr marL="73152" marR="73152" marT="9144" marB="9144" anchor="ctr">
                    <a:solidFill>
                      <a:srgbClr val="FFFFFF"/>
                    </a:solidFill>
                  </a:tcPr>
                </a:tc>
                <a:tc>
                  <a:txBody>
                    <a:bodyPr/>
                    <a:lstStyle/>
                    <a:p>
                      <a:pPr algn="r"/>
                      <a:r>
                        <a:rPr sz="1200" b="0" i="0">
                          <a:solidFill>
                            <a:srgbClr val="586878"/>
                          </a:solidFill>
                          <a:latin typeface="Segoe UI"/>
                        </a:rPr>
                        <a:t>ext không vượt GLCM</a:t>
                      </a:r>
                    </a:p>
                  </a:txBody>
                  <a:tcPr marL="73152" marR="73152" marT="9144" marB="9144" anchor="ctr">
                    <a:solidFill>
                      <a:srgbClr val="FFFFFF"/>
                    </a:solidFill>
                  </a:tcPr>
                </a:tc>
              </a:tr>
              <a:tr h="402336">
                <a:tc>
                  <a:txBody>
                    <a:bodyPr/>
                    <a:lstStyle/>
                    <a:p>
                      <a:pPr algn="l"/>
                      <a:r>
                        <a:rPr sz="1200" b="1" i="0">
                          <a:solidFill>
                            <a:srgbClr val="16212B"/>
                          </a:solidFill>
                          <a:latin typeface="Segoe UI"/>
                        </a:rPr>
                        <a:t>Radiomics (thủ công)</a:t>
                      </a:r>
                    </a:p>
                  </a:txBody>
                  <a:tcPr marL="73152" marR="73152" marT="9144" marB="9144" anchor="ctr">
                    <a:solidFill>
                      <a:srgbClr val="E3EEF1"/>
                    </a:solidFill>
                  </a:tcPr>
                </a:tc>
                <a:tc>
                  <a:txBody>
                    <a:bodyPr/>
                    <a:lstStyle/>
                    <a:p>
                      <a:pPr algn="r"/>
                      <a:r>
                        <a:rPr sz="1200" b="0" i="0">
                          <a:solidFill>
                            <a:srgbClr val="16212B"/>
                          </a:solidFill>
                          <a:latin typeface="Segoe UI"/>
                        </a:rPr>
                        <a:t>radiology</a:t>
                      </a:r>
                    </a:p>
                  </a:txBody>
                  <a:tcPr marL="73152" marR="73152" marT="9144" marB="9144" anchor="ctr">
                    <a:solidFill>
                      <a:srgbClr val="E3EEF1"/>
                    </a:solidFill>
                  </a:tcPr>
                </a:tc>
                <a:tc>
                  <a:txBody>
                    <a:bodyPr/>
                    <a:lstStyle/>
                    <a:p>
                      <a:pPr algn="r"/>
                      <a:r>
                        <a:rPr sz="1200" b="0" i="0">
                          <a:solidFill>
                            <a:srgbClr val="16212B"/>
                          </a:solidFill>
                          <a:latin typeface="Segoe UI"/>
                        </a:rPr>
                        <a:t>0.582</a:t>
                      </a:r>
                    </a:p>
                  </a:txBody>
                  <a:tcPr marL="73152" marR="73152" marT="9144" marB="9144" anchor="ctr">
                    <a:solidFill>
                      <a:srgbClr val="E3EEF1"/>
                    </a:solidFill>
                  </a:tcPr>
                </a:tc>
                <a:tc>
                  <a:txBody>
                    <a:bodyPr/>
                    <a:lstStyle/>
                    <a:p>
                      <a:pPr algn="r"/>
                      <a:r>
                        <a:rPr sz="1200" b="1" i="0">
                          <a:solidFill>
                            <a:srgbClr val="B3603A"/>
                          </a:solidFill>
                          <a:latin typeface="Segoe UI"/>
                        </a:rPr>
                        <a:t>0.461</a:t>
                      </a:r>
                    </a:p>
                  </a:txBody>
                  <a:tcPr marL="73152" marR="73152" marT="9144" marB="9144" anchor="ctr">
                    <a:solidFill>
                      <a:srgbClr val="E3EEF1"/>
                    </a:solidFill>
                  </a:tcPr>
                </a:tc>
                <a:tc>
                  <a:txBody>
                    <a:bodyPr/>
                    <a:lstStyle/>
                    <a:p>
                      <a:pPr algn="r"/>
                      <a:r>
                        <a:rPr sz="1200" b="1" i="0">
                          <a:solidFill>
                            <a:srgbClr val="B3603A"/>
                          </a:solidFill>
                          <a:latin typeface="Segoe UI"/>
                        </a:rPr>
                        <a:t>KHÔNG generalize</a:t>
                      </a:r>
                    </a:p>
                  </a:txBody>
                  <a:tcPr marL="73152" marR="73152" marT="9144" marB="9144" anchor="ctr">
                    <a:solidFill>
                      <a:srgbClr val="E3EEF1"/>
                    </a:solidFill>
                  </a:tcPr>
                </a:tc>
              </a:tr>
              <a:tr h="402336">
                <a:tc>
                  <a:txBody>
                    <a:bodyPr/>
                    <a:lstStyle/>
                    <a:p>
                      <a:pPr algn="l"/>
                      <a:r>
                        <a:rPr sz="1200" b="0" i="0">
                          <a:solidFill>
                            <a:srgbClr val="16212B"/>
                          </a:solidFill>
                          <a:latin typeface="Segoe UI"/>
                        </a:rPr>
                        <a:t>BiomedCLIP 2.5D</a:t>
                      </a:r>
                    </a:p>
                  </a:txBody>
                  <a:tcPr marL="73152" marR="73152" marT="9144" marB="9144" anchor="ctr">
                    <a:solidFill>
                      <a:srgbClr val="FFFFFF"/>
                    </a:solidFill>
                  </a:tcPr>
                </a:tc>
                <a:tc>
                  <a:txBody>
                    <a:bodyPr/>
                    <a:lstStyle/>
                    <a:p>
                      <a:pPr algn="r"/>
                      <a:r>
                        <a:rPr sz="1200" b="0" i="0">
                          <a:solidFill>
                            <a:srgbClr val="16212B"/>
                          </a:solidFill>
                          <a:latin typeface="Segoe UI"/>
                        </a:rPr>
                        <a:t>radiology</a:t>
                      </a:r>
                    </a:p>
                  </a:txBody>
                  <a:tcPr marL="73152" marR="73152" marT="9144" marB="9144" anchor="ctr">
                    <a:solidFill>
                      <a:srgbClr val="FFFFFF"/>
                    </a:solidFill>
                  </a:tcPr>
                </a:tc>
                <a:tc>
                  <a:txBody>
                    <a:bodyPr/>
                    <a:lstStyle/>
                    <a:p>
                      <a:pPr algn="r"/>
                      <a:r>
                        <a:rPr sz="1200" b="0" i="0">
                          <a:solidFill>
                            <a:srgbClr val="16212B"/>
                          </a:solidFill>
                          <a:latin typeface="Segoe UI"/>
                        </a:rPr>
                        <a:t>0.510</a:t>
                      </a:r>
                    </a:p>
                  </a:txBody>
                  <a:tcPr marL="73152" marR="73152" marT="9144" marB="9144" anchor="ctr">
                    <a:solidFill>
                      <a:srgbClr val="FFFFFF"/>
                    </a:solidFill>
                  </a:tcPr>
                </a:tc>
                <a:tc>
                  <a:txBody>
                    <a:bodyPr/>
                    <a:lstStyle/>
                    <a:p>
                      <a:pPr algn="r"/>
                      <a:r>
                        <a:rPr sz="1200" b="0" i="0">
                          <a:solidFill>
                            <a:srgbClr val="16212B"/>
                          </a:solidFill>
                          <a:latin typeface="Segoe UI"/>
                        </a:rPr>
                        <a:t>0.530</a:t>
                      </a:r>
                    </a:p>
                  </a:txBody>
                  <a:tcPr marL="73152" marR="73152" marT="9144" marB="9144" anchor="ctr">
                    <a:solidFill>
                      <a:srgbClr val="FFFFFF"/>
                    </a:solidFill>
                  </a:tcPr>
                </a:tc>
                <a:tc>
                  <a:txBody>
                    <a:bodyPr/>
                    <a:lstStyle/>
                    <a:p>
                      <a:pPr algn="r"/>
                      <a:r>
                        <a:rPr sz="1200" b="0" i="0">
                          <a:solidFill>
                            <a:srgbClr val="586878"/>
                          </a:solidFill>
                          <a:latin typeface="Segoe UI"/>
                        </a:rPr>
                        <a:t>≈ ngẫu nhiên</a:t>
                      </a:r>
                    </a:p>
                  </a:txBody>
                  <a:tcPr marL="73152" marR="73152" marT="9144" marB="9144" anchor="ctr">
                    <a:solidFill>
                      <a:srgbClr val="FFFFFF"/>
                    </a:solidFill>
                  </a:tcPr>
                </a:tc>
              </a:tr>
              <a:tr h="402336">
                <a:tc>
                  <a:txBody>
                    <a:bodyPr/>
                    <a:lstStyle/>
                    <a:p>
                      <a:pPr algn="l"/>
                      <a:r>
                        <a:rPr sz="1200" b="0" i="0">
                          <a:solidFill>
                            <a:srgbClr val="16212B"/>
                          </a:solidFill>
                          <a:latin typeface="Segoe UI"/>
                        </a:rPr>
                        <a:t>MedicalNet 3D</a:t>
                      </a:r>
                    </a:p>
                  </a:txBody>
                  <a:tcPr marL="73152" marR="73152" marT="9144" marB="9144" anchor="ctr">
                    <a:solidFill>
                      <a:srgbClr val="FFFFFF"/>
                    </a:solidFill>
                  </a:tcPr>
                </a:tc>
                <a:tc>
                  <a:txBody>
                    <a:bodyPr/>
                    <a:lstStyle/>
                    <a:p>
                      <a:pPr algn="r"/>
                      <a:r>
                        <a:rPr sz="1200" b="0" i="0">
                          <a:solidFill>
                            <a:srgbClr val="16212B"/>
                          </a:solidFill>
                          <a:latin typeface="Segoe UI"/>
                        </a:rPr>
                        <a:t>radiology</a:t>
                      </a:r>
                    </a:p>
                  </a:txBody>
                  <a:tcPr marL="73152" marR="73152" marT="9144" marB="9144" anchor="ctr">
                    <a:solidFill>
                      <a:srgbClr val="FFFFFF"/>
                    </a:solidFill>
                  </a:tcPr>
                </a:tc>
                <a:tc>
                  <a:txBody>
                    <a:bodyPr/>
                    <a:lstStyle/>
                    <a:p>
                      <a:pPr algn="r"/>
                      <a:r>
                        <a:rPr sz="1200" b="0" i="0">
                          <a:solidFill>
                            <a:srgbClr val="16212B"/>
                          </a:solidFill>
                          <a:latin typeface="Segoe UI"/>
                        </a:rPr>
                        <a:t>0.514</a:t>
                      </a:r>
                    </a:p>
                  </a:txBody>
                  <a:tcPr marL="73152" marR="73152" marT="9144" marB="9144" anchor="ctr">
                    <a:solidFill>
                      <a:srgbClr val="FFFFFF"/>
                    </a:solidFill>
                  </a:tcPr>
                </a:tc>
                <a:tc>
                  <a:txBody>
                    <a:bodyPr/>
                    <a:lstStyle/>
                    <a:p>
                      <a:pPr algn="r"/>
                      <a:r>
                        <a:rPr sz="1200" b="0" i="0">
                          <a:solidFill>
                            <a:srgbClr val="16212B"/>
                          </a:solidFill>
                          <a:latin typeface="Segoe UI"/>
                        </a:rPr>
                        <a:t>0.627</a:t>
                      </a:r>
                    </a:p>
                  </a:txBody>
                  <a:tcPr marL="73152" marR="73152" marT="9144" marB="9144" anchor="ctr">
                    <a:solidFill>
                      <a:srgbClr val="FFFFFF"/>
                    </a:solidFill>
                  </a:tcPr>
                </a:tc>
                <a:tc>
                  <a:txBody>
                    <a:bodyPr/>
                    <a:lstStyle/>
                    <a:p>
                      <a:pPr algn="r"/>
                      <a:r>
                        <a:rPr sz="1200" b="0" i="0">
                          <a:solidFill>
                            <a:srgbClr val="586878"/>
                          </a:solidFill>
                          <a:latin typeface="Segoe UI"/>
                        </a:rPr>
                        <a:t>≈ ngẫu nhiên (ext nhiễu)</a:t>
                      </a:r>
                    </a:p>
                  </a:txBody>
                  <a:tcPr marL="73152" marR="73152" marT="9144" marB="9144" anchor="ctr">
                    <a:solidFill>
                      <a:srgbClr val="FFFFFF"/>
                    </a:solidFill>
                  </a:tcPr>
                </a:tc>
              </a:tr>
              <a:tr h="402336">
                <a:tc>
                  <a:txBody>
                    <a:bodyPr/>
                    <a:lstStyle/>
                    <a:p>
                      <a:pPr algn="l"/>
                      <a:r>
                        <a:rPr sz="1200" b="1" i="0">
                          <a:solidFill>
                            <a:srgbClr val="16212B"/>
                          </a:solidFill>
                          <a:latin typeface="Segoe UI"/>
                        </a:rPr>
                        <a:t>fmcib (cancer-CT, Colab)</a:t>
                      </a:r>
                    </a:p>
                  </a:txBody>
                  <a:tcPr marL="73152" marR="73152" marT="9144" marB="9144" anchor="ctr">
                    <a:solidFill>
                      <a:srgbClr val="FFFFFF"/>
                    </a:solidFill>
                  </a:tcPr>
                </a:tc>
                <a:tc>
                  <a:txBody>
                    <a:bodyPr/>
                    <a:lstStyle/>
                    <a:p>
                      <a:pPr algn="r"/>
                      <a:r>
                        <a:rPr sz="1200" b="0" i="0">
                          <a:solidFill>
                            <a:srgbClr val="16212B"/>
                          </a:solidFill>
                          <a:latin typeface="Segoe UI"/>
                        </a:rPr>
                        <a:t>radiology</a:t>
                      </a:r>
                    </a:p>
                  </a:txBody>
                  <a:tcPr marL="73152" marR="73152" marT="9144" marB="9144" anchor="ctr">
                    <a:solidFill>
                      <a:srgbClr val="FFFFFF"/>
                    </a:solidFill>
                  </a:tcPr>
                </a:tc>
                <a:tc>
                  <a:txBody>
                    <a:bodyPr/>
                    <a:lstStyle/>
                    <a:p>
                      <a:pPr algn="r"/>
                      <a:r>
                        <a:rPr sz="1200" b="1" i="0">
                          <a:solidFill>
                            <a:srgbClr val="B3603A"/>
                          </a:solidFill>
                          <a:latin typeface="Segoe UI"/>
                        </a:rPr>
                        <a:t>0.503</a:t>
                      </a:r>
                    </a:p>
                  </a:txBody>
                  <a:tcPr marL="73152" marR="73152" marT="9144" marB="9144" anchor="ctr">
                    <a:solidFill>
                      <a:srgbClr val="FFFFFF"/>
                    </a:solidFill>
                  </a:tcPr>
                </a:tc>
                <a:tc>
                  <a:txBody>
                    <a:bodyPr/>
                    <a:lstStyle/>
                    <a:p>
                      <a:pPr algn="r"/>
                      <a:r>
                        <a:rPr sz="1200" b="0" i="0">
                          <a:solidFill>
                            <a:srgbClr val="16212B"/>
                          </a:solidFill>
                          <a:latin typeface="Segoe UI"/>
                        </a:rPr>
                        <a:t>0.546</a:t>
                      </a:r>
                    </a:p>
                  </a:txBody>
                  <a:tcPr marL="73152" marR="73152" marT="9144" marB="9144" anchor="ctr">
                    <a:solidFill>
                      <a:srgbClr val="FFFFFF"/>
                    </a:solidFill>
                  </a:tcPr>
                </a:tc>
                <a:tc>
                  <a:txBody>
                    <a:bodyPr/>
                    <a:lstStyle/>
                    <a:p>
                      <a:pPr algn="r"/>
                      <a:r>
                        <a:rPr sz="1200" b="0" i="0">
                          <a:solidFill>
                            <a:srgbClr val="586878"/>
                          </a:solidFill>
                          <a:latin typeface="Segoe UI"/>
                        </a:rPr>
                        <a:t>≈ ngẫu nhiên</a:t>
                      </a:r>
                    </a:p>
                  </a:txBody>
                  <a:tcPr marL="73152" marR="73152" marT="9144" marB="9144" anchor="ctr">
                    <a:solidFill>
                      <a:srgbClr val="FFFFFF"/>
                    </a:solidFill>
                  </a:tcPr>
                </a:tc>
              </a:tr>
            </a:tbl>
          </a:graphicData>
        </a:graphic>
      </p:graphicFrame>
      <p:sp>
        <p:nvSpPr>
          <p:cNvPr id="8" name="Rectangle 7"/>
          <p:cNvSpPr/>
          <p:nvPr/>
        </p:nvSpPr>
        <p:spPr>
          <a:xfrm>
            <a:off x="822960" y="5806440"/>
            <a:ext cx="10543032" cy="74980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5806440"/>
            <a:ext cx="54864" cy="749808"/>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916168"/>
            <a:ext cx="10177272" cy="566928"/>
          </a:xfrm>
          <a:prstGeom prst="rect">
            <a:avLst/>
          </a:prstGeom>
          <a:noFill/>
        </p:spPr>
        <p:txBody>
          <a:bodyPr wrap="square" anchor="ctr" lIns="0" rIns="0" tIns="0" bIns="0">
            <a:spAutoFit/>
          </a:bodyPr>
          <a:lstStyle/>
          <a:p>
            <a:pPr>
              <a:lnSpc>
                <a:spcPct val="108000"/>
              </a:lnSpc>
              <a:spcBef>
                <a:spcPts val="0"/>
              </a:spcBef>
              <a:spcAft>
                <a:spcPts val="400"/>
              </a:spcAft>
            </a:pPr>
            <a:r>
              <a:rPr sz="1050" b="1" i="0" spc="120">
                <a:solidFill>
                  <a:srgbClr val="1F6F83"/>
                </a:solidFill>
                <a:latin typeface="Segoe UI"/>
              </a:rPr>
              <a:t>CHỐT   </a:t>
            </a:r>
            <a:r>
              <a:rPr sz="1300" b="0" i="0">
                <a:solidFill>
                  <a:srgbClr val="16212B"/>
                </a:solidFill>
                <a:latin typeface="Segoe UI"/>
              </a:rPr>
              <a:t>Kể cả fmcib (model 3D cancer-CT chuyên biệt) cũng ~ngẫu nhiên nội bộ (0.503). Ba model CT hội tụ ~0.51 → </a:t>
            </a:r>
            <a:r>
              <a:rPr sz="1300" b="1" i="0">
                <a:solidFill>
                  <a:srgbClr val="16212B"/>
                </a:solidFill>
                <a:latin typeface="Segoe UI"/>
              </a:rPr>
              <a:t>embedding CT không mang tín hiệu response.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40">
                <a:solidFill>
                  <a:srgbClr val="8595A3"/>
                </a:solidFill>
                <a:latin typeface="Segoe UI"/>
              </a:rPr>
              <a:t>E  </a:t>
            </a:r>
            <a:r>
              <a:rPr sz="1200" b="1" i="0" spc="140">
                <a:solidFill>
                  <a:srgbClr val="1F6F83"/>
                </a:solidFill>
                <a:latin typeface="Segoe UI"/>
              </a:rPr>
              <a:t>EMBEDDING TRONG FUSION ĐA NGUỒN</a:t>
            </a:r>
          </a:p>
        </p:txBody>
      </p:sp>
      <p:sp>
        <p:nvSpPr>
          <p:cNvPr id="4" name="TextBox 3"/>
          <p:cNvSpPr txBox="1"/>
          <p:nvPr/>
        </p:nvSpPr>
        <p:spPr>
          <a:xfrm>
            <a:off x="822960" y="932688"/>
            <a:ext cx="10515600" cy="1280160"/>
          </a:xfrm>
          <a:prstGeom prst="rect">
            <a:avLst/>
          </a:prstGeom>
          <a:noFill/>
        </p:spPr>
        <p:txBody>
          <a:bodyPr wrap="square" anchor="t" lIns="0" rIns="0" tIns="0" bIns="0">
            <a:spAutoFit/>
          </a:bodyPr>
          <a:lstStyle/>
          <a:p>
            <a:pPr>
              <a:lnSpc>
                <a:spcPct val="102000"/>
              </a:lnSpc>
              <a:spcBef>
                <a:spcPts val="0"/>
              </a:spcBef>
              <a:spcAft>
                <a:spcPts val="400"/>
              </a:spcAft>
            </a:pPr>
            <a:r>
              <a:rPr sz="2600" b="1" i="0">
                <a:solidFill>
                  <a:srgbClr val="16212B"/>
                </a:solidFill>
                <a:latin typeface="Segoe UI"/>
              </a:rPr>
              <a:t>Kết hợp embedding không giúp — mà kéo tụt</a:t>
            </a:r>
          </a:p>
        </p:txBody>
      </p:sp>
      <p:sp>
        <p:nvSpPr>
          <p:cNvPr id="5" name="Rounded Rectangle 4"/>
          <p:cNvSpPr/>
          <p:nvPr/>
        </p:nvSpPr>
        <p:spPr>
          <a:xfrm>
            <a:off x="822960" y="1600200"/>
            <a:ext cx="4023360" cy="310896"/>
          </a:xfrm>
          <a:prstGeom prst="roundRect">
            <a:avLst>
              <a:gd name="adj" fmla="val 8000"/>
            </a:avLst>
          </a:prstGeom>
          <a:solidFill>
            <a:srgbClr val="F5E7DF"/>
          </a:solidFill>
          <a:ln w="9525">
            <a:solidFill>
              <a:srgbClr val="B3603A"/>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150" b="1" i="0">
                <a:solidFill>
                  <a:srgbClr val="B3603A"/>
                </a:solidFill>
                <a:latin typeface="Segoe UI"/>
              </a:rPr>
              <a:t>Hại fusion, tỉ lệ với độ nhiễu</a:t>
            </a:r>
          </a:p>
        </p:txBody>
      </p:sp>
      <p:sp>
        <p:nvSpPr>
          <p:cNvPr id="6" name="TextBox 5"/>
          <p:cNvSpPr txBox="1"/>
          <p:nvPr/>
        </p:nvSpPr>
        <p:spPr>
          <a:xfrm>
            <a:off x="822960" y="2240280"/>
            <a:ext cx="5029200" cy="822960"/>
          </a:xfrm>
          <a:prstGeom prst="rect">
            <a:avLst/>
          </a:prstGeom>
          <a:noFill/>
        </p:spPr>
        <p:txBody>
          <a:bodyPr wrap="square" anchor="t" lIns="0" rIns="0" tIns="0" bIns="0">
            <a:spAutoFit/>
          </a:bodyPr>
          <a:lstStyle/>
          <a:p>
            <a:pPr>
              <a:lnSpc>
                <a:spcPct val="120000"/>
              </a:lnSpc>
              <a:spcBef>
                <a:spcPts val="0"/>
              </a:spcBef>
              <a:spcAft>
                <a:spcPts val="400"/>
              </a:spcAft>
            </a:pPr>
            <a:r>
              <a:rPr sz="1300" b="0" i="0">
                <a:solidFill>
                  <a:srgbClr val="16212B"/>
                </a:solidFill>
                <a:latin typeface="Segoe UI"/>
              </a:rPr>
              <a:t>Càng thay nhiều imaging bằng embedding, AUC càng giảm — thứ tự khớp “độ yếu” của embedding.</a:t>
            </a:r>
          </a:p>
        </p:txBody>
      </p:sp>
      <p:sp>
        <p:nvSpPr>
          <p:cNvPr id="7" name="TextBox 6"/>
          <p:cNvSpPr txBox="1"/>
          <p:nvPr/>
        </p:nvSpPr>
        <p:spPr>
          <a:xfrm>
            <a:off x="822960" y="3227832"/>
            <a:ext cx="1828800" cy="274320"/>
          </a:xfrm>
          <a:prstGeom prst="rect">
            <a:avLst/>
          </a:prstGeom>
          <a:noFill/>
        </p:spPr>
        <p:txBody>
          <a:bodyPr wrap="square" anchor="ctr" lIns="0" rIns="0" tIns="0" bIns="0">
            <a:spAutoFit/>
          </a:bodyPr>
          <a:lstStyle/>
          <a:p>
            <a:pPr>
              <a:lnSpc>
                <a:spcPct val="105000"/>
              </a:lnSpc>
              <a:spcBef>
                <a:spcPts val="0"/>
              </a:spcBef>
              <a:spcAft>
                <a:spcPts val="400"/>
              </a:spcAft>
            </a:pPr>
            <a:r>
              <a:rPr sz="1200" b="0" i="0">
                <a:solidFill>
                  <a:srgbClr val="586878"/>
                </a:solidFill>
                <a:latin typeface="Segoe UI"/>
              </a:rPr>
              <a:t>Thủ công (BM1)</a:t>
            </a:r>
          </a:p>
        </p:txBody>
      </p:sp>
      <p:sp>
        <p:nvSpPr>
          <p:cNvPr id="8" name="Rectangle 7"/>
          <p:cNvSpPr/>
          <p:nvPr/>
        </p:nvSpPr>
        <p:spPr>
          <a:xfrm>
            <a:off x="2697479" y="3246120"/>
            <a:ext cx="2606040" cy="20116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97479" y="3246120"/>
            <a:ext cx="2345436" cy="201168"/>
          </a:xfrm>
          <a:prstGeom prst="rect">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49240" y="3227832"/>
            <a:ext cx="777240" cy="274320"/>
          </a:xfrm>
          <a:prstGeom prst="rect">
            <a:avLst/>
          </a:prstGeom>
          <a:noFill/>
        </p:spPr>
        <p:txBody>
          <a:bodyPr wrap="square" anchor="ctr" lIns="0" rIns="0" tIns="0" bIns="0">
            <a:spAutoFit/>
          </a:bodyPr>
          <a:lstStyle/>
          <a:p>
            <a:pPr algn="r">
              <a:lnSpc>
                <a:spcPct val="105000"/>
              </a:lnSpc>
              <a:spcBef>
                <a:spcPts val="0"/>
              </a:spcBef>
              <a:spcAft>
                <a:spcPts val="400"/>
              </a:spcAft>
            </a:pPr>
            <a:r>
              <a:rPr sz="1200" b="1" i="0">
                <a:solidFill>
                  <a:srgbClr val="16212B"/>
                </a:solidFill>
                <a:latin typeface="Segoe UI"/>
              </a:rPr>
              <a:t>0.775</a:t>
            </a:r>
          </a:p>
        </p:txBody>
      </p:sp>
      <p:sp>
        <p:nvSpPr>
          <p:cNvPr id="11" name="TextBox 10"/>
          <p:cNvSpPr txBox="1"/>
          <p:nvPr/>
        </p:nvSpPr>
        <p:spPr>
          <a:xfrm>
            <a:off x="822960" y="3685032"/>
            <a:ext cx="1828800" cy="274320"/>
          </a:xfrm>
          <a:prstGeom prst="rect">
            <a:avLst/>
          </a:prstGeom>
          <a:noFill/>
        </p:spPr>
        <p:txBody>
          <a:bodyPr wrap="square" anchor="ctr" lIns="0" rIns="0" tIns="0" bIns="0">
            <a:spAutoFit/>
          </a:bodyPr>
          <a:lstStyle/>
          <a:p>
            <a:pPr>
              <a:lnSpc>
                <a:spcPct val="105000"/>
              </a:lnSpc>
              <a:spcBef>
                <a:spcPts val="0"/>
              </a:spcBef>
              <a:spcAft>
                <a:spcPts val="400"/>
              </a:spcAft>
            </a:pPr>
            <a:r>
              <a:rPr sz="1200" b="0" i="0">
                <a:solidFill>
                  <a:srgbClr val="586878"/>
                </a:solidFill>
                <a:latin typeface="Segoe UI"/>
              </a:rPr>
              <a:t>+ fmcib (thêm)</a:t>
            </a:r>
          </a:p>
        </p:txBody>
      </p:sp>
      <p:sp>
        <p:nvSpPr>
          <p:cNvPr id="12" name="Rectangle 11"/>
          <p:cNvSpPr/>
          <p:nvPr/>
        </p:nvSpPr>
        <p:spPr>
          <a:xfrm>
            <a:off x="2697479" y="3703320"/>
            <a:ext cx="2606040" cy="20116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97479" y="3703320"/>
            <a:ext cx="2032711" cy="201168"/>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9240" y="3685032"/>
            <a:ext cx="777240" cy="274320"/>
          </a:xfrm>
          <a:prstGeom prst="rect">
            <a:avLst/>
          </a:prstGeom>
          <a:noFill/>
        </p:spPr>
        <p:txBody>
          <a:bodyPr wrap="square" anchor="ctr" lIns="0" rIns="0" tIns="0" bIns="0">
            <a:spAutoFit/>
          </a:bodyPr>
          <a:lstStyle/>
          <a:p>
            <a:pPr algn="r">
              <a:lnSpc>
                <a:spcPct val="105000"/>
              </a:lnSpc>
              <a:spcBef>
                <a:spcPts val="0"/>
              </a:spcBef>
              <a:spcAft>
                <a:spcPts val="400"/>
              </a:spcAft>
            </a:pPr>
            <a:r>
              <a:rPr sz="1200" b="1" i="0">
                <a:solidFill>
                  <a:srgbClr val="16212B"/>
                </a:solidFill>
                <a:latin typeface="Segoe UI"/>
              </a:rPr>
              <a:t>0.744</a:t>
            </a:r>
          </a:p>
        </p:txBody>
      </p:sp>
      <p:sp>
        <p:nvSpPr>
          <p:cNvPr id="15" name="TextBox 14"/>
          <p:cNvSpPr txBox="1"/>
          <p:nvPr/>
        </p:nvSpPr>
        <p:spPr>
          <a:xfrm>
            <a:off x="822960" y="4142232"/>
            <a:ext cx="1828800" cy="274320"/>
          </a:xfrm>
          <a:prstGeom prst="rect">
            <a:avLst/>
          </a:prstGeom>
          <a:noFill/>
        </p:spPr>
        <p:txBody>
          <a:bodyPr wrap="square" anchor="ctr" lIns="0" rIns="0" tIns="0" bIns="0">
            <a:spAutoFit/>
          </a:bodyPr>
          <a:lstStyle/>
          <a:p>
            <a:pPr>
              <a:lnSpc>
                <a:spcPct val="105000"/>
              </a:lnSpc>
              <a:spcBef>
                <a:spcPts val="0"/>
              </a:spcBef>
              <a:spcAft>
                <a:spcPts val="400"/>
              </a:spcAft>
            </a:pPr>
            <a:r>
              <a:rPr sz="1200" b="0" i="0">
                <a:solidFill>
                  <a:srgbClr val="586878"/>
                </a:solidFill>
                <a:latin typeface="Segoe UI"/>
              </a:rPr>
              <a:t>Embed radiology</a:t>
            </a:r>
          </a:p>
        </p:txBody>
      </p:sp>
      <p:sp>
        <p:nvSpPr>
          <p:cNvPr id="16" name="Rectangle 15"/>
          <p:cNvSpPr/>
          <p:nvPr/>
        </p:nvSpPr>
        <p:spPr>
          <a:xfrm>
            <a:off x="2697479" y="4160520"/>
            <a:ext cx="2606040" cy="20116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97479" y="4160520"/>
            <a:ext cx="1563624" cy="201168"/>
          </a:xfrm>
          <a:prstGeom prst="rect">
            <a:avLst/>
          </a:prstGeom>
          <a:solidFill>
            <a:srgbClr val="A87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9240" y="4142232"/>
            <a:ext cx="777240" cy="274320"/>
          </a:xfrm>
          <a:prstGeom prst="rect">
            <a:avLst/>
          </a:prstGeom>
          <a:noFill/>
        </p:spPr>
        <p:txBody>
          <a:bodyPr wrap="square" anchor="ctr" lIns="0" rIns="0" tIns="0" bIns="0">
            <a:spAutoFit/>
          </a:bodyPr>
          <a:lstStyle/>
          <a:p>
            <a:pPr algn="r">
              <a:lnSpc>
                <a:spcPct val="105000"/>
              </a:lnSpc>
              <a:spcBef>
                <a:spcPts val="0"/>
              </a:spcBef>
              <a:spcAft>
                <a:spcPts val="400"/>
              </a:spcAft>
            </a:pPr>
            <a:r>
              <a:rPr sz="1200" b="1" i="0">
                <a:solidFill>
                  <a:srgbClr val="16212B"/>
                </a:solidFill>
                <a:latin typeface="Segoe UI"/>
              </a:rPr>
              <a:t>0.719</a:t>
            </a:r>
          </a:p>
        </p:txBody>
      </p:sp>
      <p:sp>
        <p:nvSpPr>
          <p:cNvPr id="19" name="TextBox 18"/>
          <p:cNvSpPr txBox="1"/>
          <p:nvPr/>
        </p:nvSpPr>
        <p:spPr>
          <a:xfrm>
            <a:off x="822960" y="4599432"/>
            <a:ext cx="1828800" cy="274320"/>
          </a:xfrm>
          <a:prstGeom prst="rect">
            <a:avLst/>
          </a:prstGeom>
          <a:noFill/>
        </p:spPr>
        <p:txBody>
          <a:bodyPr wrap="square" anchor="ctr" lIns="0" rIns="0" tIns="0" bIns="0">
            <a:spAutoFit/>
          </a:bodyPr>
          <a:lstStyle/>
          <a:p>
            <a:pPr>
              <a:lnSpc>
                <a:spcPct val="105000"/>
              </a:lnSpc>
              <a:spcBef>
                <a:spcPts val="0"/>
              </a:spcBef>
              <a:spcAft>
                <a:spcPts val="400"/>
              </a:spcAft>
            </a:pPr>
            <a:r>
              <a:rPr sz="1200" b="0" i="0">
                <a:solidFill>
                  <a:srgbClr val="586878"/>
                </a:solidFill>
                <a:latin typeface="Segoe UI"/>
              </a:rPr>
              <a:t>Embed cả 2</a:t>
            </a:r>
          </a:p>
        </p:txBody>
      </p:sp>
      <p:sp>
        <p:nvSpPr>
          <p:cNvPr id="20" name="Rectangle 19"/>
          <p:cNvSpPr/>
          <p:nvPr/>
        </p:nvSpPr>
        <p:spPr>
          <a:xfrm>
            <a:off x="2697479" y="4617720"/>
            <a:ext cx="2606040" cy="20116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697479" y="4617720"/>
            <a:ext cx="912114" cy="201168"/>
          </a:xfrm>
          <a:prstGeom prst="rect">
            <a:avLst/>
          </a:prstGeom>
          <a:solidFill>
            <a:srgbClr val="B3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599432"/>
            <a:ext cx="777240" cy="274320"/>
          </a:xfrm>
          <a:prstGeom prst="rect">
            <a:avLst/>
          </a:prstGeom>
          <a:noFill/>
        </p:spPr>
        <p:txBody>
          <a:bodyPr wrap="square" anchor="ctr" lIns="0" rIns="0" tIns="0" bIns="0">
            <a:spAutoFit/>
          </a:bodyPr>
          <a:lstStyle/>
          <a:p>
            <a:pPr algn="r">
              <a:lnSpc>
                <a:spcPct val="105000"/>
              </a:lnSpc>
              <a:spcBef>
                <a:spcPts val="0"/>
              </a:spcBef>
              <a:spcAft>
                <a:spcPts val="400"/>
              </a:spcAft>
            </a:pPr>
            <a:r>
              <a:rPr sz="1200" b="1" i="0">
                <a:solidFill>
                  <a:srgbClr val="16212B"/>
                </a:solidFill>
                <a:latin typeface="Segoe UI"/>
              </a:rPr>
              <a:t>0.653</a:t>
            </a:r>
          </a:p>
        </p:txBody>
      </p:sp>
      <p:sp>
        <p:nvSpPr>
          <p:cNvPr id="23" name="TextBox 22"/>
          <p:cNvSpPr txBox="1"/>
          <p:nvPr/>
        </p:nvSpPr>
        <p:spPr>
          <a:xfrm>
            <a:off x="6583680" y="2651760"/>
            <a:ext cx="4754880" cy="2743200"/>
          </a:xfrm>
          <a:prstGeom prst="rect">
            <a:avLst/>
          </a:prstGeom>
          <a:noFill/>
        </p:spPr>
        <p:txBody>
          <a:bodyPr wrap="square" anchor="t" lIns="0" rIns="0" tIns="0" bIns="0">
            <a:spAutoFit/>
          </a:bodyPr>
          <a:lstStyle/>
          <a:p>
            <a:pPr>
              <a:lnSpc>
                <a:spcPct val="130000"/>
              </a:lnSpc>
              <a:spcBef>
                <a:spcPts val="0"/>
              </a:spcBef>
              <a:spcAft>
                <a:spcPts val="400"/>
              </a:spcAft>
            </a:pPr>
            <a:r>
              <a:rPr sz="1300" b="0" i="0">
                <a:solidFill>
                  <a:srgbClr val="16212B"/>
                </a:solidFill>
                <a:latin typeface="Segoe UI"/>
              </a:rPr>
              <a:t>CT-embed (≈ngẫu nhiên) hại nặng; Phikon (có tín hiệu) hại nhẹ. Thêm fmcib vào combo tốt nhất vẫn </a:t>
            </a:r>
            <a:r>
              <a:rPr sz="1300" b="1" i="0">
                <a:solidFill>
                  <a:srgbClr val="B3603A"/>
                </a:solidFill>
                <a:latin typeface="Segoe UI"/>
              </a:rPr>
              <a:t>−0.030</a:t>
            </a:r>
            <a:r>
              <a:rPr sz="1300" b="0" i="0">
                <a:solidFill>
                  <a:srgbClr val="16212B"/>
                </a:solidFill>
                <a:latin typeface="Segoe UI"/>
              </a:rPr>
              <a:t>.</a:t>
            </a:r>
          </a:p>
          <a:p>
            <a:pPr>
              <a:lnSpc>
                <a:spcPct val="130000"/>
              </a:lnSpc>
              <a:spcBef>
                <a:spcPts val="1200"/>
              </a:spcBef>
              <a:spcAft>
                <a:spcPts val="400"/>
              </a:spcAft>
            </a:pPr>
            <a:r>
              <a:rPr sz="1300" b="1" i="0">
                <a:solidFill>
                  <a:srgbClr val="16212B"/>
                </a:solidFill>
                <a:latin typeface="Segoe UI"/>
              </a:rPr>
              <a:t>→ Giả thuyết “bù trừ trong fusion” bị bác bỏ. Embedding chỉ đưa nhiễu vào tổ hợp vốn đã tốt.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40">
                <a:solidFill>
                  <a:srgbClr val="8595A3"/>
                </a:solidFill>
                <a:latin typeface="Segoe UI"/>
              </a:rPr>
              <a:t>F  </a:t>
            </a:r>
            <a:r>
              <a:rPr sz="1200" b="1" i="0" spc="140">
                <a:solidFill>
                  <a:srgbClr val="1F6F83"/>
                </a:solidFill>
                <a:latin typeface="Segoe UI"/>
              </a:rPr>
              <a:t>TABPFN — TABULAR FOUNDATION MODEL</a:t>
            </a:r>
          </a:p>
        </p:txBody>
      </p:sp>
      <p:sp>
        <p:nvSpPr>
          <p:cNvPr id="4" name="TextBox 3"/>
          <p:cNvSpPr txBox="1"/>
          <p:nvPr/>
        </p:nvSpPr>
        <p:spPr>
          <a:xfrm>
            <a:off x="822960" y="932688"/>
            <a:ext cx="10515600" cy="1280160"/>
          </a:xfrm>
          <a:prstGeom prst="rect">
            <a:avLst/>
          </a:prstGeom>
          <a:noFill/>
        </p:spPr>
        <p:txBody>
          <a:bodyPr wrap="square" anchor="t" lIns="0" rIns="0" tIns="0" bIns="0">
            <a:spAutoFit/>
          </a:bodyPr>
          <a:lstStyle/>
          <a:p>
            <a:pPr>
              <a:lnSpc>
                <a:spcPct val="102000"/>
              </a:lnSpc>
              <a:spcBef>
                <a:spcPts val="0"/>
              </a:spcBef>
              <a:spcAft>
                <a:spcPts val="400"/>
              </a:spcAft>
            </a:pPr>
            <a:r>
              <a:rPr sz="2400" b="1" i="0">
                <a:solidFill>
                  <a:srgbClr val="16212B"/>
                </a:solidFill>
                <a:latin typeface="Segoe UI"/>
              </a:rPr>
              <a:t>TabPFN không vượt hồi quy tuyến tính / uniform_avg</a:t>
            </a:r>
          </a:p>
        </p:txBody>
      </p:sp>
      <p:sp>
        <p:nvSpPr>
          <p:cNvPr id="5" name="Rounded Rectangle 4"/>
          <p:cNvSpPr/>
          <p:nvPr/>
        </p:nvSpPr>
        <p:spPr>
          <a:xfrm>
            <a:off x="822960" y="1600200"/>
            <a:ext cx="3547872" cy="310896"/>
          </a:xfrm>
          <a:prstGeom prst="roundRect">
            <a:avLst>
              <a:gd name="adj" fmla="val 8000"/>
            </a:avLst>
          </a:prstGeom>
          <a:solidFill>
            <a:srgbClr val="F4F6F8"/>
          </a:solidFill>
          <a:ln w="9525">
            <a:solidFill>
              <a:srgbClr val="586878"/>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150" b="1" i="0">
                <a:solidFill>
                  <a:srgbClr val="586878"/>
                </a:solidFill>
                <a:latin typeface="Segoe UI"/>
              </a:rPr>
              <a:t>Ngang / không hơn baseline</a:t>
            </a:r>
          </a:p>
        </p:txBody>
      </p:sp>
      <p:sp>
        <p:nvSpPr>
          <p:cNvPr id="6" name="Rounded Rectangle 5"/>
          <p:cNvSpPr/>
          <p:nvPr/>
        </p:nvSpPr>
        <p:spPr>
          <a:xfrm>
            <a:off x="3931920" y="1600200"/>
            <a:ext cx="3904487" cy="310896"/>
          </a:xfrm>
          <a:prstGeom prst="roundRect">
            <a:avLst>
              <a:gd name="adj" fmla="val 8000"/>
            </a:avLst>
          </a:prstGeom>
          <a:solidFill>
            <a:srgbClr val="E3EEF1"/>
          </a:solidFill>
          <a:ln w="9525">
            <a:solidFill>
              <a:srgbClr val="1F6F83"/>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150" b="1" i="0">
                <a:solidFill>
                  <a:srgbClr val="1F6F83"/>
                </a:solidFill>
                <a:latin typeface="Segoe UI"/>
              </a:rPr>
              <a:t>comparator hiện đại cho paper</a:t>
            </a:r>
          </a:p>
        </p:txBody>
      </p:sp>
      <p:sp>
        <p:nvSpPr>
          <p:cNvPr id="7" name="TextBox 6"/>
          <p:cNvSpPr txBox="1"/>
          <p:nvPr/>
        </p:nvSpPr>
        <p:spPr>
          <a:xfrm>
            <a:off x="822960" y="2194560"/>
            <a:ext cx="5029200" cy="365760"/>
          </a:xfrm>
          <a:prstGeom prst="rect">
            <a:avLst/>
          </a:prstGeom>
          <a:noFill/>
        </p:spPr>
        <p:txBody>
          <a:bodyPr wrap="square" anchor="t" lIns="0" rIns="0" tIns="0" bIns="0">
            <a:spAutoFit/>
          </a:bodyPr>
          <a:lstStyle/>
          <a:p>
            <a:pPr>
              <a:lnSpc>
                <a:spcPct val="105000"/>
              </a:lnSpc>
              <a:spcBef>
                <a:spcPts val="0"/>
              </a:spcBef>
              <a:spcAft>
                <a:spcPts val="400"/>
              </a:spcAft>
            </a:pPr>
            <a:r>
              <a:rPr sz="1200" b="0" i="0">
                <a:solidFill>
                  <a:srgbClr val="8595A3"/>
                </a:solidFill>
                <a:latin typeface="Segoe UI"/>
              </a:rPr>
              <a:t>Per-modality: TabPFN vs LR</a:t>
            </a:r>
          </a:p>
        </p:txBody>
      </p:sp>
      <p:graphicFrame>
        <p:nvGraphicFramePr>
          <p:cNvPr id="8" name="Table 7"/>
          <p:cNvGraphicFramePr>
            <a:graphicFrameLocks noGrp="1"/>
          </p:cNvGraphicFramePr>
          <p:nvPr/>
        </p:nvGraphicFramePr>
        <p:xfrm>
          <a:off x="822960" y="2560320"/>
          <a:ext cx="5029200" cy="1773936"/>
        </p:xfrm>
        <a:graphic>
          <a:graphicData uri="http://schemas.openxmlformats.org/drawingml/2006/table">
            <a:tbl>
              <a:tblPr firstRow="0" bandRow="0">
                <a:tableStyleId>{5C22544A-7EE6-4342-B048-85BDC9FD1C3A}</a:tableStyleId>
              </a:tblPr>
              <a:tblGrid>
                <a:gridCol w="2743200"/>
                <a:gridCol w="1143000"/>
                <a:gridCol w="1143000"/>
              </a:tblGrid>
              <a:tr h="310896">
                <a:tc>
                  <a:txBody>
                    <a:bodyPr/>
                    <a:lstStyle/>
                    <a:p>
                      <a:pPr algn="l"/>
                      <a:r>
                        <a:rPr sz="1000" b="1" i="0" spc="40">
                          <a:solidFill>
                            <a:srgbClr val="586878"/>
                          </a:solidFill>
                          <a:latin typeface="Segoe UI"/>
                        </a:rPr>
                        <a:t>MODALITY</a:t>
                      </a:r>
                    </a:p>
                  </a:txBody>
                  <a:tcPr marL="73152" marR="73152" marT="18288" marB="18288" anchor="ctr">
                    <a:solidFill>
                      <a:srgbClr val="F4F6F8"/>
                    </a:solidFill>
                  </a:tcPr>
                </a:tc>
                <a:tc>
                  <a:txBody>
                    <a:bodyPr/>
                    <a:lstStyle/>
                    <a:p>
                      <a:pPr algn="r"/>
                      <a:r>
                        <a:rPr sz="1000" b="1" i="0" spc="40">
                          <a:solidFill>
                            <a:srgbClr val="586878"/>
                          </a:solidFill>
                          <a:latin typeface="Segoe UI"/>
                        </a:rPr>
                        <a:t>LR</a:t>
                      </a:r>
                    </a:p>
                  </a:txBody>
                  <a:tcPr marL="73152" marR="73152" marT="18288" marB="18288" anchor="ctr">
                    <a:solidFill>
                      <a:srgbClr val="F4F6F8"/>
                    </a:solidFill>
                  </a:tcPr>
                </a:tc>
                <a:tc>
                  <a:txBody>
                    <a:bodyPr/>
                    <a:lstStyle/>
                    <a:p>
                      <a:pPr algn="r"/>
                      <a:r>
                        <a:rPr sz="1000" b="1" i="0" spc="40">
                          <a:solidFill>
                            <a:srgbClr val="586878"/>
                          </a:solidFill>
                          <a:latin typeface="Segoe UI"/>
                        </a:rPr>
                        <a:t>TABPFN</a:t>
                      </a:r>
                    </a:p>
                  </a:txBody>
                  <a:tcPr marL="73152" marR="73152" marT="18288" marB="18288" anchor="ctr">
                    <a:solidFill>
                      <a:srgbClr val="F4F6F8"/>
                    </a:solidFill>
                  </a:tcPr>
                </a:tc>
              </a:tr>
              <a:tr h="365760">
                <a:tc>
                  <a:txBody>
                    <a:bodyPr/>
                    <a:lstStyle/>
                    <a:p>
                      <a:pPr algn="l"/>
                      <a:r>
                        <a:rPr sz="1200" b="0" i="0">
                          <a:solidFill>
                            <a:srgbClr val="16212B"/>
                          </a:solidFill>
                          <a:latin typeface="Segoe UI"/>
                        </a:rPr>
                        <a:t>PD-L1</a:t>
                      </a:r>
                    </a:p>
                  </a:txBody>
                  <a:tcPr marL="73152" marR="73152" marT="9144" marB="9144" anchor="ctr">
                    <a:solidFill>
                      <a:srgbClr val="FFFFFF"/>
                    </a:solidFill>
                  </a:tcPr>
                </a:tc>
                <a:tc>
                  <a:txBody>
                    <a:bodyPr/>
                    <a:lstStyle/>
                    <a:p>
                      <a:pPr algn="r"/>
                      <a:r>
                        <a:rPr sz="1200" b="1" i="0">
                          <a:solidFill>
                            <a:srgbClr val="1F6F83"/>
                          </a:solidFill>
                          <a:latin typeface="Segoe UI"/>
                        </a:rPr>
                        <a:t>0.719</a:t>
                      </a:r>
                    </a:p>
                  </a:txBody>
                  <a:tcPr marL="73152" marR="73152" marT="9144" marB="9144" anchor="ctr">
                    <a:solidFill>
                      <a:srgbClr val="FFFFFF"/>
                    </a:solidFill>
                  </a:tcPr>
                </a:tc>
                <a:tc>
                  <a:txBody>
                    <a:bodyPr/>
                    <a:lstStyle/>
                    <a:p>
                      <a:pPr algn="r"/>
                      <a:r>
                        <a:rPr sz="1200" b="0" i="0">
                          <a:solidFill>
                            <a:srgbClr val="16212B"/>
                          </a:solidFill>
                          <a:latin typeface="Segoe UI"/>
                        </a:rPr>
                        <a:t>0.710</a:t>
                      </a:r>
                    </a:p>
                  </a:txBody>
                  <a:tcPr marL="73152" marR="73152" marT="9144" marB="9144" anchor="ctr">
                    <a:solidFill>
                      <a:srgbClr val="FFFFFF"/>
                    </a:solidFill>
                  </a:tcPr>
                </a:tc>
              </a:tr>
              <a:tr h="365760">
                <a:tc>
                  <a:txBody>
                    <a:bodyPr/>
                    <a:lstStyle/>
                    <a:p>
                      <a:pPr algn="l"/>
                      <a:r>
                        <a:rPr sz="1200" b="0" i="0">
                          <a:solidFill>
                            <a:srgbClr val="16212B"/>
                          </a:solidFill>
                          <a:latin typeface="Segoe UI"/>
                        </a:rPr>
                        <a:t>Genomic</a:t>
                      </a:r>
                    </a:p>
                  </a:txBody>
                  <a:tcPr marL="73152" marR="73152" marT="9144" marB="9144" anchor="ctr">
                    <a:solidFill>
                      <a:srgbClr val="FFFFFF"/>
                    </a:solidFill>
                  </a:tcPr>
                </a:tc>
                <a:tc>
                  <a:txBody>
                    <a:bodyPr/>
                    <a:lstStyle/>
                    <a:p>
                      <a:pPr algn="r"/>
                      <a:r>
                        <a:rPr sz="1200" b="1" i="0">
                          <a:solidFill>
                            <a:srgbClr val="1F6F83"/>
                          </a:solidFill>
                          <a:latin typeface="Segoe UI"/>
                        </a:rPr>
                        <a:t>0.676</a:t>
                      </a:r>
                    </a:p>
                  </a:txBody>
                  <a:tcPr marL="73152" marR="73152" marT="9144" marB="9144" anchor="ctr">
                    <a:solidFill>
                      <a:srgbClr val="FFFFFF"/>
                    </a:solidFill>
                  </a:tcPr>
                </a:tc>
                <a:tc>
                  <a:txBody>
                    <a:bodyPr/>
                    <a:lstStyle/>
                    <a:p>
                      <a:pPr algn="r"/>
                      <a:r>
                        <a:rPr sz="1200" b="0" i="0">
                          <a:solidFill>
                            <a:srgbClr val="16212B"/>
                          </a:solidFill>
                          <a:latin typeface="Segoe UI"/>
                        </a:rPr>
                        <a:t>0.656</a:t>
                      </a:r>
                    </a:p>
                  </a:txBody>
                  <a:tcPr marL="73152" marR="73152" marT="9144" marB="9144" anchor="ctr">
                    <a:solidFill>
                      <a:srgbClr val="FFFFFF"/>
                    </a:solidFill>
                  </a:tcPr>
                </a:tc>
              </a:tr>
              <a:tr h="365760">
                <a:tc>
                  <a:txBody>
                    <a:bodyPr/>
                    <a:lstStyle/>
                    <a:p>
                      <a:pPr algn="l"/>
                      <a:r>
                        <a:rPr sz="1200" b="0" i="0">
                          <a:solidFill>
                            <a:srgbClr val="16212B"/>
                          </a:solidFill>
                          <a:latin typeface="Segoe UI"/>
                        </a:rPr>
                        <a:t>GLCM pathology</a:t>
                      </a:r>
                    </a:p>
                  </a:txBody>
                  <a:tcPr marL="73152" marR="73152" marT="9144" marB="9144" anchor="ctr">
                    <a:solidFill>
                      <a:srgbClr val="FFFFFF"/>
                    </a:solidFill>
                  </a:tcPr>
                </a:tc>
                <a:tc>
                  <a:txBody>
                    <a:bodyPr/>
                    <a:lstStyle/>
                    <a:p>
                      <a:pPr algn="r"/>
                      <a:r>
                        <a:rPr sz="1200" b="1" i="0">
                          <a:solidFill>
                            <a:srgbClr val="1F6F83"/>
                          </a:solidFill>
                          <a:latin typeface="Segoe UI"/>
                        </a:rPr>
                        <a:t>0.576</a:t>
                      </a:r>
                    </a:p>
                  </a:txBody>
                  <a:tcPr marL="73152" marR="73152" marT="9144" marB="9144" anchor="ctr">
                    <a:solidFill>
                      <a:srgbClr val="FFFFFF"/>
                    </a:solidFill>
                  </a:tcPr>
                </a:tc>
                <a:tc>
                  <a:txBody>
                    <a:bodyPr/>
                    <a:lstStyle/>
                    <a:p>
                      <a:pPr algn="r"/>
                      <a:r>
                        <a:rPr sz="1200" b="0" i="0">
                          <a:solidFill>
                            <a:srgbClr val="16212B"/>
                          </a:solidFill>
                          <a:latin typeface="Segoe UI"/>
                        </a:rPr>
                        <a:t>0.547</a:t>
                      </a:r>
                    </a:p>
                  </a:txBody>
                  <a:tcPr marL="73152" marR="73152" marT="9144" marB="9144" anchor="ctr">
                    <a:solidFill>
                      <a:srgbClr val="FFFFFF"/>
                    </a:solidFill>
                  </a:tcPr>
                </a:tc>
              </a:tr>
              <a:tr h="365760">
                <a:tc>
                  <a:txBody>
                    <a:bodyPr/>
                    <a:lstStyle/>
                    <a:p>
                      <a:pPr algn="l"/>
                      <a:r>
                        <a:rPr sz="1200" b="0" i="0">
                          <a:solidFill>
                            <a:srgbClr val="16212B"/>
                          </a:solidFill>
                          <a:latin typeface="Segoe UI"/>
                        </a:rPr>
                        <a:t>Radiomics</a:t>
                      </a:r>
                    </a:p>
                  </a:txBody>
                  <a:tcPr marL="73152" marR="73152" marT="9144" marB="9144" anchor="ctr">
                    <a:solidFill>
                      <a:srgbClr val="FFFFFF"/>
                    </a:solidFill>
                  </a:tcPr>
                </a:tc>
                <a:tc>
                  <a:txBody>
                    <a:bodyPr/>
                    <a:lstStyle/>
                    <a:p>
                      <a:pPr algn="r"/>
                      <a:r>
                        <a:rPr sz="1200" b="0" i="0">
                          <a:solidFill>
                            <a:srgbClr val="16212B"/>
                          </a:solidFill>
                          <a:latin typeface="Segoe UI"/>
                        </a:rPr>
                        <a:t>0.576</a:t>
                      </a:r>
                    </a:p>
                  </a:txBody>
                  <a:tcPr marL="73152" marR="73152" marT="9144" marB="9144" anchor="ctr">
                    <a:solidFill>
                      <a:srgbClr val="FFFFFF"/>
                    </a:solidFill>
                  </a:tcPr>
                </a:tc>
                <a:tc>
                  <a:txBody>
                    <a:bodyPr/>
                    <a:lstStyle/>
                    <a:p>
                      <a:pPr algn="r"/>
                      <a:r>
                        <a:rPr sz="1200" b="0" i="0">
                          <a:solidFill>
                            <a:srgbClr val="16212B"/>
                          </a:solidFill>
                          <a:latin typeface="Segoe UI"/>
                        </a:rPr>
                        <a:t>0.579</a:t>
                      </a:r>
                    </a:p>
                  </a:txBody>
                  <a:tcPr marL="73152" marR="73152" marT="9144" marB="9144" anchor="ctr">
                    <a:solidFill>
                      <a:srgbClr val="FFFFFF"/>
                    </a:solidFill>
                  </a:tcPr>
                </a:tc>
              </a:tr>
            </a:tbl>
          </a:graphicData>
        </a:graphic>
      </p:graphicFrame>
      <p:sp>
        <p:nvSpPr>
          <p:cNvPr id="9" name="TextBox 8"/>
          <p:cNvSpPr txBox="1"/>
          <p:nvPr/>
        </p:nvSpPr>
        <p:spPr>
          <a:xfrm>
            <a:off x="6309360" y="2194560"/>
            <a:ext cx="5029200" cy="365760"/>
          </a:xfrm>
          <a:prstGeom prst="rect">
            <a:avLst/>
          </a:prstGeom>
          <a:noFill/>
        </p:spPr>
        <p:txBody>
          <a:bodyPr wrap="square" anchor="t" lIns="0" rIns="0" tIns="0" bIns="0">
            <a:spAutoFit/>
          </a:bodyPr>
          <a:lstStyle/>
          <a:p>
            <a:pPr>
              <a:lnSpc>
                <a:spcPct val="105000"/>
              </a:lnSpc>
              <a:spcBef>
                <a:spcPts val="0"/>
              </a:spcBef>
              <a:spcAft>
                <a:spcPts val="400"/>
              </a:spcAft>
            </a:pPr>
            <a:r>
              <a:rPr sz="1200" b="0" i="0">
                <a:solidFill>
                  <a:srgbClr val="8595A3"/>
                </a:solidFill>
                <a:latin typeface="Segoe UI"/>
              </a:rPr>
              <a:t>Fusion: TabPFN-late vs uniform_avg</a:t>
            </a:r>
          </a:p>
        </p:txBody>
      </p:sp>
      <p:graphicFrame>
        <p:nvGraphicFramePr>
          <p:cNvPr id="10" name="Table 9"/>
          <p:cNvGraphicFramePr>
            <a:graphicFrameLocks noGrp="1"/>
          </p:cNvGraphicFramePr>
          <p:nvPr/>
        </p:nvGraphicFramePr>
        <p:xfrm>
          <a:off x="6309360" y="2560320"/>
          <a:ext cx="5029200" cy="1773936"/>
        </p:xfrm>
        <a:graphic>
          <a:graphicData uri="http://schemas.openxmlformats.org/drawingml/2006/table">
            <a:tbl>
              <a:tblPr firstRow="0" bandRow="0">
                <a:tableStyleId>{5C22544A-7EE6-4342-B048-85BDC9FD1C3A}</a:tableStyleId>
              </a:tblPr>
              <a:tblGrid>
                <a:gridCol w="2743200"/>
                <a:gridCol w="1143000"/>
                <a:gridCol w="1143000"/>
              </a:tblGrid>
              <a:tr h="310896">
                <a:tc>
                  <a:txBody>
                    <a:bodyPr/>
                    <a:lstStyle/>
                    <a:p>
                      <a:pPr algn="l"/>
                      <a:r>
                        <a:rPr sz="1000" b="1" i="0" spc="40">
                          <a:solidFill>
                            <a:srgbClr val="586878"/>
                          </a:solidFill>
                          <a:latin typeface="Segoe UI"/>
                        </a:rPr>
                        <a:t>COMBO</a:t>
                      </a:r>
                    </a:p>
                  </a:txBody>
                  <a:tcPr marL="73152" marR="73152" marT="18288" marB="18288" anchor="ctr">
                    <a:solidFill>
                      <a:srgbClr val="F4F6F8"/>
                    </a:solidFill>
                  </a:tcPr>
                </a:tc>
                <a:tc>
                  <a:txBody>
                    <a:bodyPr/>
                    <a:lstStyle/>
                    <a:p>
                      <a:pPr algn="r"/>
                      <a:r>
                        <a:rPr sz="1000" b="1" i="0" spc="40">
                          <a:solidFill>
                            <a:srgbClr val="586878"/>
                          </a:solidFill>
                          <a:latin typeface="Segoe UI"/>
                        </a:rPr>
                        <a:t>UNIFORM</a:t>
                      </a:r>
                    </a:p>
                  </a:txBody>
                  <a:tcPr marL="73152" marR="73152" marT="18288" marB="18288" anchor="ctr">
                    <a:solidFill>
                      <a:srgbClr val="F4F6F8"/>
                    </a:solidFill>
                  </a:tcPr>
                </a:tc>
                <a:tc>
                  <a:txBody>
                    <a:bodyPr/>
                    <a:lstStyle/>
                    <a:p>
                      <a:pPr algn="r"/>
                      <a:r>
                        <a:rPr sz="1000" b="1" i="0" spc="40">
                          <a:solidFill>
                            <a:srgbClr val="586878"/>
                          </a:solidFill>
                          <a:latin typeface="Segoe UI"/>
                        </a:rPr>
                        <a:t>TABPFN</a:t>
                      </a:r>
                    </a:p>
                  </a:txBody>
                  <a:tcPr marL="73152" marR="73152" marT="18288" marB="18288" anchor="ctr">
                    <a:solidFill>
                      <a:srgbClr val="F4F6F8"/>
                    </a:solidFill>
                  </a:tcPr>
                </a:tc>
              </a:tr>
              <a:tr h="365760">
                <a:tc>
                  <a:txBody>
                    <a:bodyPr/>
                    <a:lstStyle/>
                    <a:p>
                      <a:pPr algn="l"/>
                      <a:r>
                        <a:rPr sz="1200" b="0" i="0">
                          <a:solidFill>
                            <a:srgbClr val="16212B"/>
                          </a:solidFill>
                          <a:latin typeface="Segoe UI"/>
                        </a:rPr>
                        <a:t>BM1</a:t>
                      </a:r>
                    </a:p>
                  </a:txBody>
                  <a:tcPr marL="73152" marR="73152" marT="9144" marB="9144" anchor="ctr">
                    <a:solidFill>
                      <a:srgbClr val="FFFFFF"/>
                    </a:solidFill>
                  </a:tcPr>
                </a:tc>
                <a:tc>
                  <a:txBody>
                    <a:bodyPr/>
                    <a:lstStyle/>
                    <a:p>
                      <a:pPr algn="r"/>
                      <a:r>
                        <a:rPr sz="1200" b="1" i="0">
                          <a:solidFill>
                            <a:srgbClr val="1F6F83"/>
                          </a:solidFill>
                          <a:latin typeface="Segoe UI"/>
                        </a:rPr>
                        <a:t>0.775</a:t>
                      </a:r>
                    </a:p>
                  </a:txBody>
                  <a:tcPr marL="73152" marR="73152" marT="9144" marB="9144" anchor="ctr">
                    <a:solidFill>
                      <a:srgbClr val="FFFFFF"/>
                    </a:solidFill>
                  </a:tcPr>
                </a:tc>
                <a:tc>
                  <a:txBody>
                    <a:bodyPr/>
                    <a:lstStyle/>
                    <a:p>
                      <a:pPr algn="r"/>
                      <a:r>
                        <a:rPr sz="1200" b="0" i="0">
                          <a:solidFill>
                            <a:srgbClr val="B3603A"/>
                          </a:solidFill>
                          <a:latin typeface="Segoe UI"/>
                        </a:rPr>
                        <a:t>0.715</a:t>
                      </a:r>
                    </a:p>
                  </a:txBody>
                  <a:tcPr marL="73152" marR="73152" marT="9144" marB="9144" anchor="ctr">
                    <a:solidFill>
                      <a:srgbClr val="FFFFFF"/>
                    </a:solidFill>
                  </a:tcPr>
                </a:tc>
              </a:tr>
              <a:tr h="365760">
                <a:tc>
                  <a:txBody>
                    <a:bodyPr/>
                    <a:lstStyle/>
                    <a:p>
                      <a:pPr algn="l"/>
                      <a:r>
                        <a:rPr sz="1200" b="0" i="0">
                          <a:solidFill>
                            <a:srgbClr val="16212B"/>
                          </a:solidFill>
                          <a:latin typeface="Segoe UI"/>
                        </a:rPr>
                        <a:t>BM2</a:t>
                      </a:r>
                    </a:p>
                  </a:txBody>
                  <a:tcPr marL="73152" marR="73152" marT="9144" marB="9144" anchor="ctr">
                    <a:solidFill>
                      <a:srgbClr val="FFFFFF"/>
                    </a:solidFill>
                  </a:tcPr>
                </a:tc>
                <a:tc>
                  <a:txBody>
                    <a:bodyPr/>
                    <a:lstStyle/>
                    <a:p>
                      <a:pPr algn="r"/>
                      <a:r>
                        <a:rPr sz="1200" b="1" i="0">
                          <a:solidFill>
                            <a:srgbClr val="1F6F83"/>
                          </a:solidFill>
                          <a:latin typeface="Segoe UI"/>
                        </a:rPr>
                        <a:t>0.767</a:t>
                      </a:r>
                    </a:p>
                  </a:txBody>
                  <a:tcPr marL="73152" marR="73152" marT="9144" marB="9144" anchor="ctr">
                    <a:solidFill>
                      <a:srgbClr val="FFFFFF"/>
                    </a:solidFill>
                  </a:tcPr>
                </a:tc>
                <a:tc>
                  <a:txBody>
                    <a:bodyPr/>
                    <a:lstStyle/>
                    <a:p>
                      <a:pPr algn="r"/>
                      <a:r>
                        <a:rPr sz="1200" b="0" i="0">
                          <a:solidFill>
                            <a:srgbClr val="B3603A"/>
                          </a:solidFill>
                          <a:latin typeface="Segoe UI"/>
                        </a:rPr>
                        <a:t>0.719</a:t>
                      </a:r>
                    </a:p>
                  </a:txBody>
                  <a:tcPr marL="73152" marR="73152" marT="9144" marB="9144" anchor="ctr">
                    <a:solidFill>
                      <a:srgbClr val="FFFFFF"/>
                    </a:solidFill>
                  </a:tcPr>
                </a:tc>
              </a:tr>
              <a:tr h="365760">
                <a:tc>
                  <a:txBody>
                    <a:bodyPr/>
                    <a:lstStyle/>
                    <a:p>
                      <a:pPr algn="l"/>
                      <a:r>
                        <a:rPr sz="1200" b="0" i="0">
                          <a:solidFill>
                            <a:srgbClr val="16212B"/>
                          </a:solidFill>
                          <a:latin typeface="Segoe UI"/>
                        </a:rPr>
                        <a:t>BM3</a:t>
                      </a:r>
                    </a:p>
                  </a:txBody>
                  <a:tcPr marL="73152" marR="73152" marT="9144" marB="9144" anchor="ctr">
                    <a:solidFill>
                      <a:srgbClr val="FFFFFF"/>
                    </a:solidFill>
                  </a:tcPr>
                </a:tc>
                <a:tc>
                  <a:txBody>
                    <a:bodyPr/>
                    <a:lstStyle/>
                    <a:p>
                      <a:pPr algn="r"/>
                      <a:r>
                        <a:rPr sz="1200" b="1" i="0">
                          <a:solidFill>
                            <a:srgbClr val="1F6F83"/>
                          </a:solidFill>
                          <a:latin typeface="Segoe UI"/>
                        </a:rPr>
                        <a:t>0.711</a:t>
                      </a:r>
                    </a:p>
                  </a:txBody>
                  <a:tcPr marL="73152" marR="73152" marT="9144" marB="9144" anchor="ctr">
                    <a:solidFill>
                      <a:srgbClr val="FFFFFF"/>
                    </a:solidFill>
                  </a:tcPr>
                </a:tc>
                <a:tc>
                  <a:txBody>
                    <a:bodyPr/>
                    <a:lstStyle/>
                    <a:p>
                      <a:pPr algn="r"/>
                      <a:r>
                        <a:rPr sz="1200" b="0" i="0">
                          <a:solidFill>
                            <a:srgbClr val="B3603A"/>
                          </a:solidFill>
                          <a:latin typeface="Segoe UI"/>
                        </a:rPr>
                        <a:t>0.667</a:t>
                      </a:r>
                    </a:p>
                  </a:txBody>
                  <a:tcPr marL="73152" marR="73152" marT="9144" marB="9144" anchor="ctr">
                    <a:solidFill>
                      <a:srgbClr val="FFFFFF"/>
                    </a:solidFill>
                  </a:tcPr>
                </a:tc>
              </a:tr>
              <a:tr h="365760">
                <a:tc>
                  <a:txBody>
                    <a:bodyPr/>
                    <a:lstStyle/>
                    <a:p>
                      <a:pPr algn="l"/>
                      <a:r>
                        <a:rPr sz="1200" b="0" i="0">
                          <a:solidFill>
                            <a:srgbClr val="16212B"/>
                          </a:solidFill>
                          <a:latin typeface="Segoe UI"/>
                        </a:rPr>
                        <a:t>BM4 (2 nguồn)</a:t>
                      </a:r>
                    </a:p>
                  </a:txBody>
                  <a:tcPr marL="73152" marR="73152" marT="9144" marB="9144" anchor="ctr">
                    <a:solidFill>
                      <a:srgbClr val="E2EFE9"/>
                    </a:solidFill>
                  </a:tcPr>
                </a:tc>
                <a:tc>
                  <a:txBody>
                    <a:bodyPr/>
                    <a:lstStyle/>
                    <a:p>
                      <a:pPr algn="r"/>
                      <a:r>
                        <a:rPr sz="1200" b="0" i="0">
                          <a:solidFill>
                            <a:srgbClr val="16212B"/>
                          </a:solidFill>
                          <a:latin typeface="Segoe UI"/>
                        </a:rPr>
                        <a:t>0.719</a:t>
                      </a:r>
                    </a:p>
                  </a:txBody>
                  <a:tcPr marL="73152" marR="73152" marT="9144" marB="9144" anchor="ctr">
                    <a:solidFill>
                      <a:srgbClr val="E2EFE9"/>
                    </a:solidFill>
                  </a:tcPr>
                </a:tc>
                <a:tc>
                  <a:txBody>
                    <a:bodyPr/>
                    <a:lstStyle/>
                    <a:p>
                      <a:pPr algn="r"/>
                      <a:r>
                        <a:rPr sz="1200" b="1" i="0">
                          <a:solidFill>
                            <a:srgbClr val="2F7D5B"/>
                          </a:solidFill>
                          <a:latin typeface="Segoe UI"/>
                        </a:rPr>
                        <a:t>0.743</a:t>
                      </a:r>
                    </a:p>
                  </a:txBody>
                  <a:tcPr marL="73152" marR="73152" marT="9144" marB="9144" anchor="ctr">
                    <a:solidFill>
                      <a:srgbClr val="E2EFE9"/>
                    </a:solidFill>
                  </a:tcPr>
                </a:tc>
              </a:tr>
            </a:tbl>
          </a:graphicData>
        </a:graphic>
      </p:graphicFrame>
      <p:sp>
        <p:nvSpPr>
          <p:cNvPr id="11" name="Rectangle 10"/>
          <p:cNvSpPr/>
          <p:nvPr/>
        </p:nvSpPr>
        <p:spPr>
          <a:xfrm>
            <a:off x="822960" y="5806440"/>
            <a:ext cx="10543032" cy="74980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5806440"/>
            <a:ext cx="54864" cy="749808"/>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916168"/>
            <a:ext cx="10177272" cy="566928"/>
          </a:xfrm>
          <a:prstGeom prst="rect">
            <a:avLst/>
          </a:prstGeom>
          <a:noFill/>
        </p:spPr>
        <p:txBody>
          <a:bodyPr wrap="square" anchor="ctr" lIns="0" rIns="0" tIns="0" bIns="0">
            <a:spAutoFit/>
          </a:bodyPr>
          <a:lstStyle/>
          <a:p>
            <a:pPr>
              <a:lnSpc>
                <a:spcPct val="108000"/>
              </a:lnSpc>
              <a:spcBef>
                <a:spcPts val="0"/>
              </a:spcBef>
              <a:spcAft>
                <a:spcPts val="400"/>
              </a:spcAft>
            </a:pPr>
            <a:r>
              <a:rPr sz="1050" b="1" i="0" spc="120">
                <a:solidFill>
                  <a:srgbClr val="1F6F83"/>
                </a:solidFill>
                <a:latin typeface="Segoe UI"/>
              </a:rPr>
              <a:t>KẾT LUẬN   </a:t>
            </a:r>
            <a:r>
              <a:rPr sz="1300" b="0" i="0">
                <a:solidFill>
                  <a:srgbClr val="16212B"/>
                </a:solidFill>
                <a:latin typeface="Segoe UI"/>
              </a:rPr>
              <a:t>Thắng 0/5 per-modality, 1/4 fusion (chỉ BM4 — ít nguồn, sạch). Khớp literature 2025 “ML thường ≈ tabular foundation models”. Giữ làm comparator.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40">
                <a:solidFill>
                  <a:srgbClr val="1F6F83"/>
                </a:solidFill>
                <a:latin typeface="Segoe UI"/>
              </a:rPr>
              <a:t>PHÁT HIỆN XUYÊN SUỐT · ĐIỂM MẠNH NHẤT CHO PAPER</a:t>
            </a:r>
          </a:p>
        </p:txBody>
      </p:sp>
      <p:sp>
        <p:nvSpPr>
          <p:cNvPr id="4" name="TextBox 3"/>
          <p:cNvSpPr txBox="1"/>
          <p:nvPr/>
        </p:nvSpPr>
        <p:spPr>
          <a:xfrm>
            <a:off x="822960" y="932688"/>
            <a:ext cx="10515600" cy="1280160"/>
          </a:xfrm>
          <a:prstGeom prst="rect">
            <a:avLst/>
          </a:prstGeom>
          <a:noFill/>
        </p:spPr>
        <p:txBody>
          <a:bodyPr wrap="square" anchor="t" lIns="0" rIns="0" tIns="0" bIns="0">
            <a:spAutoFit/>
          </a:bodyPr>
          <a:lstStyle/>
          <a:p>
            <a:pPr>
              <a:lnSpc>
                <a:spcPct val="102000"/>
              </a:lnSpc>
              <a:spcBef>
                <a:spcPts val="0"/>
              </a:spcBef>
              <a:spcAft>
                <a:spcPts val="400"/>
              </a:spcAft>
            </a:pPr>
            <a:r>
              <a:rPr sz="2600" b="1" i="0">
                <a:solidFill>
                  <a:srgbClr val="16212B"/>
                </a:solidFill>
                <a:latin typeface="Segoe UI"/>
              </a:rPr>
              <a:t>Generalization là trục có đòn bẩy thật</a:t>
            </a:r>
          </a:p>
        </p:txBody>
      </p:sp>
      <p:sp>
        <p:nvSpPr>
          <p:cNvPr id="5" name="TextBox 4"/>
          <p:cNvSpPr txBox="1"/>
          <p:nvPr/>
        </p:nvSpPr>
        <p:spPr>
          <a:xfrm>
            <a:off x="822960" y="1783080"/>
            <a:ext cx="5120640" cy="1005840"/>
          </a:xfrm>
          <a:prstGeom prst="rect">
            <a:avLst/>
          </a:prstGeom>
          <a:noFill/>
        </p:spPr>
        <p:txBody>
          <a:bodyPr wrap="square" anchor="t" lIns="0" rIns="0" tIns="0" bIns="0">
            <a:spAutoFit/>
          </a:bodyPr>
          <a:lstStyle/>
          <a:p>
            <a:pPr>
              <a:lnSpc>
                <a:spcPct val="125000"/>
              </a:lnSpc>
              <a:spcBef>
                <a:spcPts val="0"/>
              </a:spcBef>
              <a:spcAft>
                <a:spcPts val="400"/>
              </a:spcAft>
            </a:pPr>
            <a:r>
              <a:rPr sz="1300" b="0" i="0">
                <a:solidFill>
                  <a:srgbClr val="16212B"/>
                </a:solidFill>
                <a:latin typeface="Segoe UI"/>
              </a:rPr>
              <a:t>Xuyên mọi thí nghiệm: </a:t>
            </a:r>
            <a:r>
              <a:rPr sz="1300" b="1" i="0">
                <a:solidFill>
                  <a:srgbClr val="16212B"/>
                </a:solidFill>
                <a:latin typeface="Segoe UI"/>
              </a:rPr>
              <a:t>pathology transfer ra ngoài mẫu, radiomics thì không</a:t>
            </a:r>
            <a:r>
              <a:rPr sz="1300" b="0" i="0">
                <a:solidFill>
                  <a:srgbClr val="16212B"/>
                </a:solidFill>
                <a:latin typeface="Segoe UI"/>
              </a:rPr>
              <a:t> — cả thí nghiệm của tôi lẫn bài báo gốc đều xác nhận.</a:t>
            </a:r>
          </a:p>
        </p:txBody>
      </p:sp>
      <p:sp>
        <p:nvSpPr>
          <p:cNvPr id="6" name="TextBox 5"/>
          <p:cNvSpPr txBox="1"/>
          <p:nvPr/>
        </p:nvSpPr>
        <p:spPr>
          <a:xfrm>
            <a:off x="822960" y="3044952"/>
            <a:ext cx="1828800" cy="274320"/>
          </a:xfrm>
          <a:prstGeom prst="rect">
            <a:avLst/>
          </a:prstGeom>
          <a:noFill/>
        </p:spPr>
        <p:txBody>
          <a:bodyPr wrap="square" anchor="ctr" lIns="0" rIns="0" tIns="0" bIns="0">
            <a:spAutoFit/>
          </a:bodyPr>
          <a:lstStyle/>
          <a:p>
            <a:pPr>
              <a:lnSpc>
                <a:spcPct val="105000"/>
              </a:lnSpc>
              <a:spcBef>
                <a:spcPts val="0"/>
              </a:spcBef>
              <a:spcAft>
                <a:spcPts val="400"/>
              </a:spcAft>
            </a:pPr>
            <a:r>
              <a:rPr sz="1200" b="0" i="0">
                <a:solidFill>
                  <a:srgbClr val="586878"/>
                </a:solidFill>
                <a:latin typeface="Segoe UI"/>
              </a:rPr>
              <a:t>Pathology (external)</a:t>
            </a:r>
          </a:p>
        </p:txBody>
      </p:sp>
      <p:sp>
        <p:nvSpPr>
          <p:cNvPr id="7" name="Rectangle 6"/>
          <p:cNvSpPr/>
          <p:nvPr/>
        </p:nvSpPr>
        <p:spPr>
          <a:xfrm>
            <a:off x="2697479" y="3063240"/>
            <a:ext cx="2514600" cy="20116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97479" y="3063240"/>
            <a:ext cx="2011680" cy="201168"/>
          </a:xfrm>
          <a:prstGeom prst="rect">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57800" y="3044952"/>
            <a:ext cx="777240" cy="274320"/>
          </a:xfrm>
          <a:prstGeom prst="rect">
            <a:avLst/>
          </a:prstGeom>
          <a:noFill/>
        </p:spPr>
        <p:txBody>
          <a:bodyPr wrap="square" anchor="ctr" lIns="0" rIns="0" tIns="0" bIns="0">
            <a:spAutoFit/>
          </a:bodyPr>
          <a:lstStyle/>
          <a:p>
            <a:pPr algn="r">
              <a:lnSpc>
                <a:spcPct val="105000"/>
              </a:lnSpc>
              <a:spcBef>
                <a:spcPts val="0"/>
              </a:spcBef>
              <a:spcAft>
                <a:spcPts val="400"/>
              </a:spcAft>
            </a:pPr>
            <a:r>
              <a:rPr sz="1200" b="1" i="0">
                <a:solidFill>
                  <a:srgbClr val="16212B"/>
                </a:solidFill>
                <a:latin typeface="Segoe UI"/>
              </a:rPr>
              <a:t>0.74–0.77</a:t>
            </a:r>
          </a:p>
        </p:txBody>
      </p:sp>
      <p:sp>
        <p:nvSpPr>
          <p:cNvPr id="10" name="TextBox 9"/>
          <p:cNvSpPr txBox="1"/>
          <p:nvPr/>
        </p:nvSpPr>
        <p:spPr>
          <a:xfrm>
            <a:off x="822960" y="3502152"/>
            <a:ext cx="1828800" cy="274320"/>
          </a:xfrm>
          <a:prstGeom prst="rect">
            <a:avLst/>
          </a:prstGeom>
          <a:noFill/>
        </p:spPr>
        <p:txBody>
          <a:bodyPr wrap="square" anchor="ctr" lIns="0" rIns="0" tIns="0" bIns="0">
            <a:spAutoFit/>
          </a:bodyPr>
          <a:lstStyle/>
          <a:p>
            <a:pPr>
              <a:lnSpc>
                <a:spcPct val="105000"/>
              </a:lnSpc>
              <a:spcBef>
                <a:spcPts val="0"/>
              </a:spcBef>
              <a:spcAft>
                <a:spcPts val="400"/>
              </a:spcAft>
            </a:pPr>
            <a:r>
              <a:rPr sz="1200" b="0" i="0">
                <a:solidFill>
                  <a:srgbClr val="586878"/>
                </a:solidFill>
                <a:latin typeface="Segoe UI"/>
              </a:rPr>
              <a:t>Radiomics (external)</a:t>
            </a:r>
          </a:p>
        </p:txBody>
      </p:sp>
      <p:sp>
        <p:nvSpPr>
          <p:cNvPr id="11" name="Rectangle 10"/>
          <p:cNvSpPr/>
          <p:nvPr/>
        </p:nvSpPr>
        <p:spPr>
          <a:xfrm>
            <a:off x="2697479" y="3520440"/>
            <a:ext cx="2514600" cy="20116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97479" y="3520440"/>
            <a:ext cx="704088" cy="201168"/>
          </a:xfrm>
          <a:prstGeom prst="rect">
            <a:avLst/>
          </a:prstGeom>
          <a:solidFill>
            <a:srgbClr val="B3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3502152"/>
            <a:ext cx="777240" cy="274320"/>
          </a:xfrm>
          <a:prstGeom prst="rect">
            <a:avLst/>
          </a:prstGeom>
          <a:noFill/>
        </p:spPr>
        <p:txBody>
          <a:bodyPr wrap="square" anchor="ctr" lIns="0" rIns="0" tIns="0" bIns="0">
            <a:spAutoFit/>
          </a:bodyPr>
          <a:lstStyle/>
          <a:p>
            <a:pPr algn="r">
              <a:lnSpc>
                <a:spcPct val="105000"/>
              </a:lnSpc>
              <a:spcBef>
                <a:spcPts val="0"/>
              </a:spcBef>
              <a:spcAft>
                <a:spcPts val="400"/>
              </a:spcAft>
            </a:pPr>
            <a:r>
              <a:rPr sz="1200" b="1" i="0">
                <a:solidFill>
                  <a:srgbClr val="16212B"/>
                </a:solidFill>
                <a:latin typeface="Segoe UI"/>
              </a:rPr>
              <a:t>0.43–0.66</a:t>
            </a:r>
          </a:p>
        </p:txBody>
      </p:sp>
      <p:sp>
        <p:nvSpPr>
          <p:cNvPr id="14" name="TextBox 13"/>
          <p:cNvSpPr txBox="1"/>
          <p:nvPr/>
        </p:nvSpPr>
        <p:spPr>
          <a:xfrm>
            <a:off x="822960" y="4023360"/>
            <a:ext cx="5120640" cy="1280160"/>
          </a:xfrm>
          <a:prstGeom prst="rect">
            <a:avLst/>
          </a:prstGeom>
          <a:noFill/>
        </p:spPr>
        <p:txBody>
          <a:bodyPr wrap="square" anchor="t" lIns="0" rIns="0" tIns="0" bIns="0">
            <a:spAutoFit/>
          </a:bodyPr>
          <a:lstStyle/>
          <a:p>
            <a:pPr>
              <a:lnSpc>
                <a:spcPct val="120000"/>
              </a:lnSpc>
              <a:spcBef>
                <a:spcPts val="0"/>
              </a:spcBef>
              <a:spcAft>
                <a:spcPts val="400"/>
              </a:spcAft>
            </a:pPr>
            <a:r>
              <a:rPr sz="1200" b="0" i="0">
                <a:solidFill>
                  <a:srgbClr val="586878"/>
                </a:solidFill>
                <a:latin typeface="Segoe UI"/>
              </a:rPr>
              <a:t>Radiomics external thường dưới 0.5 → học “quirk” máy chụp, không phải sinh học khối u.</a:t>
            </a:r>
          </a:p>
        </p:txBody>
      </p:sp>
      <p:sp>
        <p:nvSpPr>
          <p:cNvPr id="15" name="TextBox 14"/>
          <p:cNvSpPr txBox="1"/>
          <p:nvPr/>
        </p:nvSpPr>
        <p:spPr>
          <a:xfrm>
            <a:off x="6309360" y="1783080"/>
            <a:ext cx="5029200" cy="457200"/>
          </a:xfrm>
          <a:prstGeom prst="rect">
            <a:avLst/>
          </a:prstGeom>
          <a:noFill/>
        </p:spPr>
        <p:txBody>
          <a:bodyPr wrap="square" anchor="t" lIns="0" rIns="0" tIns="0" bIns="0">
            <a:spAutoFit/>
          </a:bodyPr>
          <a:lstStyle/>
          <a:p>
            <a:pPr>
              <a:lnSpc>
                <a:spcPct val="105000"/>
              </a:lnSpc>
              <a:spcBef>
                <a:spcPts val="0"/>
              </a:spcBef>
              <a:spcAft>
                <a:spcPts val="400"/>
              </a:spcAft>
            </a:pPr>
            <a:r>
              <a:rPr sz="1400" b="1" i="0">
                <a:solidFill>
                  <a:srgbClr val="1F6F83"/>
                </a:solidFill>
                <a:latin typeface="Segoe UI"/>
              </a:rPr>
              <a:t>Vì sao đây là đóng góp</a:t>
            </a:r>
          </a:p>
        </p:txBody>
      </p:sp>
      <p:sp>
        <p:nvSpPr>
          <p:cNvPr id="16" name="TextBox 15"/>
          <p:cNvSpPr txBox="1"/>
          <p:nvPr/>
        </p:nvSpPr>
        <p:spPr>
          <a:xfrm>
            <a:off x="6309360" y="2286000"/>
            <a:ext cx="5029200" cy="2926080"/>
          </a:xfrm>
          <a:prstGeom prst="rect">
            <a:avLst/>
          </a:prstGeom>
          <a:noFill/>
        </p:spPr>
        <p:txBody>
          <a:bodyPr wrap="square" anchor="t" lIns="0" rIns="0" tIns="0" bIns="0">
            <a:spAutoFit/>
          </a:bodyPr>
          <a:lstStyle/>
          <a:p>
            <a:pPr>
              <a:lnSpc>
                <a:spcPct val="112000"/>
              </a:lnSpc>
              <a:spcBef>
                <a:spcPts val="0"/>
              </a:spcBef>
              <a:spcAft>
                <a:spcPts val="900"/>
              </a:spcAft>
            </a:pPr>
            <a:r>
              <a:rPr sz="1300" b="1" i="0">
                <a:solidFill>
                  <a:srgbClr val="1F6F83"/>
                </a:solidFill>
                <a:latin typeface="Segoe UI"/>
              </a:rPr>
              <a:t>•  </a:t>
            </a:r>
            <a:r>
              <a:rPr sz="1300" b="0" i="0">
                <a:solidFill>
                  <a:srgbClr val="16212B"/>
                </a:solidFill>
                <a:latin typeface="Segoe UI"/>
              </a:rPr>
              <a:t>“Modality nào generalize” đang là chủ đề nóng multimodal 2025.</a:t>
            </a:r>
          </a:p>
          <a:p>
            <a:pPr>
              <a:lnSpc>
                <a:spcPct val="112000"/>
              </a:lnSpc>
              <a:spcBef>
                <a:spcPts val="0"/>
              </a:spcBef>
              <a:spcAft>
                <a:spcPts val="900"/>
              </a:spcAft>
            </a:pPr>
            <a:r>
              <a:rPr sz="1300" b="1" i="0">
                <a:solidFill>
                  <a:srgbClr val="1F6F83"/>
                </a:solidFill>
                <a:latin typeface="Segoe UI"/>
              </a:rPr>
              <a:t>•  </a:t>
            </a:r>
            <a:r>
              <a:rPr sz="1300" b="1" i="0">
                <a:solidFill>
                  <a:srgbClr val="16212B"/>
                </a:solidFill>
                <a:latin typeface="Segoe UI"/>
              </a:rPr>
              <a:t>Ghép với đóng góp NLP-clinical đã có</a:t>
            </a:r>
            <a:r>
              <a:rPr sz="1300" b="0" i="0">
                <a:solidFill>
                  <a:srgbClr val="16212B"/>
                </a:solidFill>
                <a:latin typeface="Segoe UI"/>
              </a:rPr>
              <a:t> → câu chuyện “nguồn nào đáng tin + biểu diễn lâm sàng bằng ngôn ngữ”.</a:t>
            </a:r>
          </a:p>
          <a:p>
            <a:pPr>
              <a:lnSpc>
                <a:spcPct val="112000"/>
              </a:lnSpc>
              <a:spcBef>
                <a:spcPts val="0"/>
              </a:spcBef>
              <a:spcAft>
                <a:spcPts val="900"/>
              </a:spcAft>
            </a:pPr>
            <a:r>
              <a:rPr sz="1300" b="1" i="0">
                <a:solidFill>
                  <a:srgbClr val="1F6F83"/>
                </a:solidFill>
                <a:latin typeface="Segoe UI"/>
              </a:rPr>
              <a:t>•  </a:t>
            </a:r>
            <a:r>
              <a:rPr sz="1300" b="0" i="0">
                <a:solidFill>
                  <a:srgbClr val="16212B"/>
                </a:solidFill>
                <a:latin typeface="Segoe UI"/>
              </a:rPr>
              <a:t>Các kết quả âm → </a:t>
            </a:r>
            <a:r>
              <a:rPr sz="1300" b="1" i="0">
                <a:solidFill>
                  <a:srgbClr val="16212B"/>
                </a:solidFill>
                <a:latin typeface="Segoe UI"/>
              </a:rPr>
              <a:t>ablation nghiêm túc</a:t>
            </a:r>
            <a:r>
              <a:rPr sz="1300" b="0" i="0">
                <a:solidFill>
                  <a:srgbClr val="16212B"/>
                </a:solidFill>
                <a:latin typeface="Segoe UI"/>
              </a:rPr>
              <a:t>: model đơn giản + hiểu dữ liệu &gt; chạy theo con số.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E3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6858000"/>
          </a:xfrm>
          <a:prstGeom prst="rect">
            <a:avLst/>
          </a:prstGeom>
          <a:solidFill>
            <a:srgbClr val="1F6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66928"/>
            <a:ext cx="10515600" cy="365760"/>
          </a:xfrm>
          <a:prstGeom prst="rect">
            <a:avLst/>
          </a:prstGeom>
          <a:noFill/>
        </p:spPr>
        <p:txBody>
          <a:bodyPr wrap="square" anchor="t" lIns="0" rIns="0" tIns="0" bIns="0">
            <a:spAutoFit/>
          </a:bodyPr>
          <a:lstStyle/>
          <a:p>
            <a:pPr>
              <a:lnSpc>
                <a:spcPct val="105000"/>
              </a:lnSpc>
              <a:spcBef>
                <a:spcPts val="0"/>
              </a:spcBef>
              <a:spcAft>
                <a:spcPts val="400"/>
              </a:spcAft>
            </a:pPr>
            <a:r>
              <a:rPr sz="1200" b="1" i="0" spc="140">
                <a:solidFill>
                  <a:srgbClr val="1F6F83"/>
                </a:solidFill>
                <a:latin typeface="Segoe UI"/>
              </a:rPr>
              <a:t>KẾT LUẬN &amp; HƯỚNG ĐI</a:t>
            </a:r>
          </a:p>
        </p:txBody>
      </p:sp>
      <p:sp>
        <p:nvSpPr>
          <p:cNvPr id="6" name="TextBox 5"/>
          <p:cNvSpPr txBox="1"/>
          <p:nvPr/>
        </p:nvSpPr>
        <p:spPr>
          <a:xfrm>
            <a:off x="822960" y="932688"/>
            <a:ext cx="10515600" cy="1280160"/>
          </a:xfrm>
          <a:prstGeom prst="rect">
            <a:avLst/>
          </a:prstGeom>
          <a:noFill/>
        </p:spPr>
        <p:txBody>
          <a:bodyPr wrap="square" anchor="t" lIns="0" rIns="0" tIns="0" bIns="0">
            <a:spAutoFit/>
          </a:bodyPr>
          <a:lstStyle/>
          <a:p>
            <a:pPr>
              <a:lnSpc>
                <a:spcPct val="102000"/>
              </a:lnSpc>
              <a:spcBef>
                <a:spcPts val="0"/>
              </a:spcBef>
              <a:spcAft>
                <a:spcPts val="400"/>
              </a:spcAft>
            </a:pPr>
            <a:r>
              <a:rPr sz="2700" b="1" i="0">
                <a:solidFill>
                  <a:srgbClr val="16212B"/>
                </a:solidFill>
                <a:latin typeface="Segoe UI"/>
              </a:rPr>
              <a:t>Mọi con đường hội tụ về một thông điệp</a:t>
            </a:r>
          </a:p>
        </p:txBody>
      </p:sp>
      <p:sp>
        <p:nvSpPr>
          <p:cNvPr id="7" name="TextBox 6"/>
          <p:cNvSpPr txBox="1"/>
          <p:nvPr/>
        </p:nvSpPr>
        <p:spPr>
          <a:xfrm>
            <a:off x="822960" y="1783080"/>
            <a:ext cx="10332720" cy="1097280"/>
          </a:xfrm>
          <a:prstGeom prst="rect">
            <a:avLst/>
          </a:prstGeom>
          <a:noFill/>
        </p:spPr>
        <p:txBody>
          <a:bodyPr wrap="square" anchor="t" lIns="0" rIns="0" tIns="0" bIns="0">
            <a:spAutoFit/>
          </a:bodyPr>
          <a:lstStyle/>
          <a:p>
            <a:pPr>
              <a:lnSpc>
                <a:spcPct val="128000"/>
              </a:lnSpc>
              <a:spcBef>
                <a:spcPts val="0"/>
              </a:spcBef>
              <a:spcAft>
                <a:spcPts val="400"/>
              </a:spcAft>
            </a:pPr>
            <a:r>
              <a:rPr sz="1500" b="0" i="0">
                <a:solidFill>
                  <a:srgbClr val="16212B"/>
                </a:solidFill>
                <a:latin typeface="Segoe UI"/>
              </a:rPr>
              <a:t>Sau fusion attention · stacked · 4 foundation embedding · TabPFN — </a:t>
            </a:r>
            <a:r>
              <a:rPr sz="1500" b="1" i="0">
                <a:solidFill>
                  <a:srgbClr val="16212B"/>
                </a:solidFill>
                <a:latin typeface="Segoe UI"/>
              </a:rPr>
              <a:t>không gì vượt uniform_avg / hồi quy tuyến tính</a:t>
            </a:r>
            <a:r>
              <a:rPr sz="1500" b="0" i="0">
                <a:solidFill>
                  <a:srgbClr val="16212B"/>
                </a:solidFill>
                <a:latin typeface="Segoe UI"/>
              </a:rPr>
              <a:t> trên đặc trưng thủ công. Trần nằm ở dữ liệu (n nhỏ, radiomics không transfer), không ở model/feature.</a:t>
            </a:r>
          </a:p>
        </p:txBody>
      </p:sp>
      <p:sp>
        <p:nvSpPr>
          <p:cNvPr id="8" name="TextBox 7"/>
          <p:cNvSpPr txBox="1"/>
          <p:nvPr/>
        </p:nvSpPr>
        <p:spPr>
          <a:xfrm>
            <a:off x="822960" y="3063240"/>
            <a:ext cx="5120640" cy="457200"/>
          </a:xfrm>
          <a:prstGeom prst="rect">
            <a:avLst/>
          </a:prstGeom>
          <a:noFill/>
        </p:spPr>
        <p:txBody>
          <a:bodyPr wrap="square" anchor="t" lIns="0" rIns="0" tIns="0" bIns="0">
            <a:spAutoFit/>
          </a:bodyPr>
          <a:lstStyle/>
          <a:p>
            <a:pPr>
              <a:lnSpc>
                <a:spcPct val="105000"/>
              </a:lnSpc>
              <a:spcBef>
                <a:spcPts val="0"/>
              </a:spcBef>
              <a:spcAft>
                <a:spcPts val="400"/>
              </a:spcAft>
            </a:pPr>
            <a:r>
              <a:rPr sz="1400" b="1" i="0">
                <a:solidFill>
                  <a:srgbClr val="1F6F83"/>
                </a:solidFill>
                <a:latin typeface="Segoe UI"/>
              </a:rPr>
              <a:t>Ba đóng góp cho paper</a:t>
            </a:r>
          </a:p>
        </p:txBody>
      </p:sp>
      <p:sp>
        <p:nvSpPr>
          <p:cNvPr id="9" name="TextBox 8"/>
          <p:cNvSpPr txBox="1"/>
          <p:nvPr/>
        </p:nvSpPr>
        <p:spPr>
          <a:xfrm>
            <a:off x="822960" y="3566160"/>
            <a:ext cx="5120640" cy="2743200"/>
          </a:xfrm>
          <a:prstGeom prst="rect">
            <a:avLst/>
          </a:prstGeom>
          <a:noFill/>
        </p:spPr>
        <p:txBody>
          <a:bodyPr wrap="square" anchor="t" lIns="0" rIns="0" tIns="0" bIns="0">
            <a:spAutoFit/>
          </a:bodyPr>
          <a:lstStyle/>
          <a:p>
            <a:pPr>
              <a:lnSpc>
                <a:spcPct val="112000"/>
              </a:lnSpc>
              <a:spcBef>
                <a:spcPts val="0"/>
              </a:spcBef>
              <a:spcAft>
                <a:spcPts val="600"/>
              </a:spcAft>
            </a:pPr>
            <a:r>
              <a:rPr sz="1300" b="1" i="0">
                <a:solidFill>
                  <a:srgbClr val="1F6F83"/>
                </a:solidFill>
                <a:latin typeface="Segoe UI"/>
              </a:rPr>
              <a:t>•  </a:t>
            </a:r>
            <a:r>
              <a:rPr sz="1300" b="1" i="0">
                <a:solidFill>
                  <a:srgbClr val="16212B"/>
                </a:solidFill>
                <a:latin typeface="Segoe UI"/>
              </a:rPr>
              <a:t>NLP-clinical embedding</a:t>
            </a:r>
            <a:r>
              <a:rPr sz="1300" b="0" i="0">
                <a:solidFill>
                  <a:srgbClr val="16212B"/>
                </a:solidFill>
                <a:latin typeface="Segoe UI"/>
              </a:rPr>
              <a:t> (đã có) — biểu diễn lâm sàng bằng ngôn ngữ.</a:t>
            </a:r>
          </a:p>
          <a:p>
            <a:pPr>
              <a:lnSpc>
                <a:spcPct val="112000"/>
              </a:lnSpc>
              <a:spcBef>
                <a:spcPts val="0"/>
              </a:spcBef>
              <a:spcAft>
                <a:spcPts val="600"/>
              </a:spcAft>
            </a:pPr>
            <a:r>
              <a:rPr sz="1300" b="1" i="0">
                <a:solidFill>
                  <a:srgbClr val="1F6F83"/>
                </a:solidFill>
                <a:latin typeface="Segoe UI"/>
              </a:rPr>
              <a:t>•  </a:t>
            </a:r>
            <a:r>
              <a:rPr sz="1300" b="1" i="0">
                <a:solidFill>
                  <a:srgbClr val="16212B"/>
                </a:solidFill>
                <a:latin typeface="Segoe UI"/>
              </a:rPr>
              <a:t>Phát hiện generalization</a:t>
            </a:r>
            <a:r>
              <a:rPr sz="1300" b="0" i="0">
                <a:solidFill>
                  <a:srgbClr val="16212B"/>
                </a:solidFill>
                <a:latin typeface="Segoe UI"/>
              </a:rPr>
              <a:t> — pathology transfer, radiomics không.</a:t>
            </a:r>
          </a:p>
          <a:p>
            <a:pPr>
              <a:lnSpc>
                <a:spcPct val="112000"/>
              </a:lnSpc>
              <a:spcBef>
                <a:spcPts val="0"/>
              </a:spcBef>
              <a:spcAft>
                <a:spcPts val="600"/>
              </a:spcAft>
            </a:pPr>
            <a:r>
              <a:rPr sz="1300" b="1" i="0">
                <a:solidFill>
                  <a:srgbClr val="1F6F83"/>
                </a:solidFill>
                <a:latin typeface="Segoe UI"/>
              </a:rPr>
              <a:t>•  </a:t>
            </a:r>
            <a:r>
              <a:rPr sz="1300" b="1" i="0">
                <a:solidFill>
                  <a:srgbClr val="16212B"/>
                </a:solidFill>
                <a:latin typeface="Segoe UI"/>
              </a:rPr>
              <a:t>Ablation trung thực</a:t>
            </a:r>
            <a:r>
              <a:rPr sz="1300" b="0" i="0">
                <a:solidFill>
                  <a:srgbClr val="16212B"/>
                </a:solidFill>
                <a:latin typeface="Segoe UI"/>
              </a:rPr>
              <a:t> — model/feature phức tạp không hơn baseline.</a:t>
            </a:r>
          </a:p>
        </p:txBody>
      </p:sp>
      <p:sp>
        <p:nvSpPr>
          <p:cNvPr id="10" name="TextBox 9"/>
          <p:cNvSpPr txBox="1"/>
          <p:nvPr/>
        </p:nvSpPr>
        <p:spPr>
          <a:xfrm>
            <a:off x="6309360" y="3063240"/>
            <a:ext cx="5029200" cy="457200"/>
          </a:xfrm>
          <a:prstGeom prst="rect">
            <a:avLst/>
          </a:prstGeom>
          <a:noFill/>
        </p:spPr>
        <p:txBody>
          <a:bodyPr wrap="square" anchor="t" lIns="0" rIns="0" tIns="0" bIns="0">
            <a:spAutoFit/>
          </a:bodyPr>
          <a:lstStyle/>
          <a:p>
            <a:pPr>
              <a:lnSpc>
                <a:spcPct val="105000"/>
              </a:lnSpc>
              <a:spcBef>
                <a:spcPts val="0"/>
              </a:spcBef>
              <a:spcAft>
                <a:spcPts val="400"/>
              </a:spcAft>
            </a:pPr>
            <a:r>
              <a:rPr sz="1400" b="1" i="0">
                <a:solidFill>
                  <a:srgbClr val="1F6F83"/>
                </a:solidFill>
                <a:latin typeface="Segoe UI"/>
              </a:rPr>
              <a:t>Việc còn lại</a:t>
            </a:r>
          </a:p>
        </p:txBody>
      </p:sp>
      <p:sp>
        <p:nvSpPr>
          <p:cNvPr id="11" name="TextBox 10"/>
          <p:cNvSpPr txBox="1"/>
          <p:nvPr/>
        </p:nvSpPr>
        <p:spPr>
          <a:xfrm>
            <a:off x="6309360" y="3566160"/>
            <a:ext cx="5029200" cy="2743200"/>
          </a:xfrm>
          <a:prstGeom prst="rect">
            <a:avLst/>
          </a:prstGeom>
          <a:noFill/>
        </p:spPr>
        <p:txBody>
          <a:bodyPr wrap="square" anchor="t" lIns="0" rIns="0" tIns="0" bIns="0">
            <a:spAutoFit/>
          </a:bodyPr>
          <a:lstStyle/>
          <a:p>
            <a:pPr>
              <a:lnSpc>
                <a:spcPct val="112000"/>
              </a:lnSpc>
              <a:spcBef>
                <a:spcPts val="0"/>
              </a:spcBef>
              <a:spcAft>
                <a:spcPts val="600"/>
              </a:spcAft>
            </a:pPr>
            <a:r>
              <a:rPr sz="1300" b="1" i="0">
                <a:solidFill>
                  <a:srgbClr val="1F6F83"/>
                </a:solidFill>
                <a:latin typeface="Segoe UI"/>
              </a:rPr>
              <a:t>•  </a:t>
            </a:r>
            <a:r>
              <a:rPr sz="1300" b="0" i="0">
                <a:solidFill>
                  <a:srgbClr val="16212B"/>
                </a:solidFill>
                <a:latin typeface="Segoe UI"/>
              </a:rPr>
              <a:t>Chốt phần thực nghiệm — bằng chứng đã đầy đủ, nhất quán.</a:t>
            </a:r>
          </a:p>
          <a:p>
            <a:pPr>
              <a:lnSpc>
                <a:spcPct val="112000"/>
              </a:lnSpc>
              <a:spcBef>
                <a:spcPts val="0"/>
              </a:spcBef>
              <a:spcAft>
                <a:spcPts val="600"/>
              </a:spcAft>
            </a:pPr>
            <a:r>
              <a:rPr sz="1300" b="1" i="0">
                <a:solidFill>
                  <a:srgbClr val="1F6F83"/>
                </a:solidFill>
                <a:latin typeface="Segoe UI"/>
              </a:rPr>
              <a:t>•  </a:t>
            </a:r>
            <a:r>
              <a:rPr sz="1300" b="0" i="0">
                <a:solidFill>
                  <a:srgbClr val="16212B"/>
                </a:solidFill>
                <a:latin typeface="Segoe UI"/>
              </a:rPr>
              <a:t>Tùy chọn: nâng cấp NLP encoder (LLM y khoa).</a:t>
            </a:r>
          </a:p>
          <a:p>
            <a:pPr>
              <a:lnSpc>
                <a:spcPct val="112000"/>
              </a:lnSpc>
              <a:spcBef>
                <a:spcPts val="0"/>
              </a:spcBef>
              <a:spcAft>
                <a:spcPts val="600"/>
              </a:spcAft>
            </a:pPr>
            <a:r>
              <a:rPr sz="1300" b="1" i="0">
                <a:solidFill>
                  <a:srgbClr val="1F6F83"/>
                </a:solidFill>
                <a:latin typeface="Segoe UI"/>
              </a:rPr>
              <a:t>•  </a:t>
            </a:r>
            <a:r>
              <a:rPr sz="1300" b="0" i="0">
                <a:solidFill>
                  <a:srgbClr val="16212B"/>
                </a:solidFill>
                <a:latin typeface="Segoe UI"/>
              </a:rPr>
              <a:t>Viết: generalization + baseline-đơn-giản làm câu chuyện chính.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